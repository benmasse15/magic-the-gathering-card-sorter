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98" d="100"/>
          <a:sy n="98" d="100"/>
        </p:scale>
        <p:origin x="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559922-C237-4888-A183-D13D35564AA5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190878A-46D6-401C-9579-C89874208F36}">
      <dgm:prSet/>
      <dgm:spPr/>
      <dgm:t>
        <a:bodyPr/>
        <a:lstStyle/>
        <a:p>
          <a:r>
            <a:rPr lang="fr-CA" dirty="0"/>
            <a:t>SPI</a:t>
          </a:r>
          <a:endParaRPr lang="en-US" dirty="0"/>
        </a:p>
      </dgm:t>
    </dgm:pt>
    <dgm:pt modelId="{075CA2D9-86CD-4459-8F68-10D614FF2E3A}" type="parTrans" cxnId="{82610F52-0C94-4130-BA60-3D198D080A18}">
      <dgm:prSet/>
      <dgm:spPr/>
      <dgm:t>
        <a:bodyPr/>
        <a:lstStyle/>
        <a:p>
          <a:endParaRPr lang="en-US"/>
        </a:p>
      </dgm:t>
    </dgm:pt>
    <dgm:pt modelId="{4551F44D-31DC-4132-BCCC-D36A49D5A2A2}" type="sibTrans" cxnId="{82610F52-0C94-4130-BA60-3D198D080A18}">
      <dgm:prSet/>
      <dgm:spPr/>
      <dgm:t>
        <a:bodyPr/>
        <a:lstStyle/>
        <a:p>
          <a:endParaRPr lang="en-US"/>
        </a:p>
      </dgm:t>
    </dgm:pt>
    <dgm:pt modelId="{09DB54C2-E229-41F4-97D6-A18DC83346C8}">
      <dgm:prSet/>
      <dgm:spPr/>
      <dgm:t>
        <a:bodyPr/>
        <a:lstStyle/>
        <a:p>
          <a:r>
            <a:rPr lang="fr-CA" dirty="0"/>
            <a:t>PWM</a:t>
          </a:r>
          <a:endParaRPr lang="en-US" dirty="0"/>
        </a:p>
      </dgm:t>
    </dgm:pt>
    <dgm:pt modelId="{F1034FAA-B67C-4AC1-8A1B-8180C1EB9F6E}" type="parTrans" cxnId="{AD35A2D7-5E3C-4517-B6E0-59DEAE0A5336}">
      <dgm:prSet/>
      <dgm:spPr/>
      <dgm:t>
        <a:bodyPr/>
        <a:lstStyle/>
        <a:p>
          <a:endParaRPr lang="en-US"/>
        </a:p>
      </dgm:t>
    </dgm:pt>
    <dgm:pt modelId="{AF0A3C59-603E-4F3B-910B-FA2EAA8AF690}" type="sibTrans" cxnId="{AD35A2D7-5E3C-4517-B6E0-59DEAE0A5336}">
      <dgm:prSet/>
      <dgm:spPr/>
      <dgm:t>
        <a:bodyPr/>
        <a:lstStyle/>
        <a:p>
          <a:endParaRPr lang="en-US"/>
        </a:p>
      </dgm:t>
    </dgm:pt>
    <dgm:pt modelId="{5BBED480-BFB6-4580-B45F-418700699309}">
      <dgm:prSet/>
      <dgm:spPr/>
      <dgm:t>
        <a:bodyPr/>
        <a:lstStyle/>
        <a:p>
          <a:r>
            <a:rPr lang="fr-CA"/>
            <a:t>HTTP</a:t>
          </a:r>
          <a:endParaRPr lang="en-US"/>
        </a:p>
      </dgm:t>
    </dgm:pt>
    <dgm:pt modelId="{5B01DF94-1D32-4B47-8D22-0E18A5743762}" type="parTrans" cxnId="{BCFFF24D-C9D7-4CA3-AB2B-86136FB976BB}">
      <dgm:prSet/>
      <dgm:spPr/>
      <dgm:t>
        <a:bodyPr/>
        <a:lstStyle/>
        <a:p>
          <a:endParaRPr lang="en-US"/>
        </a:p>
      </dgm:t>
    </dgm:pt>
    <dgm:pt modelId="{4F46C070-DC78-4343-BD69-D8AF90A2F21C}" type="sibTrans" cxnId="{BCFFF24D-C9D7-4CA3-AB2B-86136FB976BB}">
      <dgm:prSet/>
      <dgm:spPr/>
      <dgm:t>
        <a:bodyPr/>
        <a:lstStyle/>
        <a:p>
          <a:endParaRPr lang="en-US"/>
        </a:p>
      </dgm:t>
    </dgm:pt>
    <dgm:pt modelId="{37BF7868-86CE-4BA9-99A0-21CB162B3B27}">
      <dgm:prSet/>
      <dgm:spPr/>
      <dgm:t>
        <a:bodyPr/>
        <a:lstStyle/>
        <a:p>
          <a:r>
            <a:rPr lang="fr-CA"/>
            <a:t>OCR</a:t>
          </a:r>
          <a:endParaRPr lang="en-US"/>
        </a:p>
      </dgm:t>
    </dgm:pt>
    <dgm:pt modelId="{31C590B9-0BC2-49A2-BBE8-C6F1972420C9}" type="parTrans" cxnId="{455864AB-78E6-4393-9E9F-94D0382FDA40}">
      <dgm:prSet/>
      <dgm:spPr/>
      <dgm:t>
        <a:bodyPr/>
        <a:lstStyle/>
        <a:p>
          <a:endParaRPr lang="en-US"/>
        </a:p>
      </dgm:t>
    </dgm:pt>
    <dgm:pt modelId="{4E1B9D2B-CFEF-46E4-AB74-F6F218C6FD51}" type="sibTrans" cxnId="{455864AB-78E6-4393-9E9F-94D0382FDA40}">
      <dgm:prSet/>
      <dgm:spPr/>
      <dgm:t>
        <a:bodyPr/>
        <a:lstStyle/>
        <a:p>
          <a:endParaRPr lang="en-US"/>
        </a:p>
      </dgm:t>
    </dgm:pt>
    <dgm:pt modelId="{2E9F125E-71BD-424D-AC62-4660931C5DD0}" type="pres">
      <dgm:prSet presAssocID="{71559922-C237-4888-A183-D13D35564AA5}" presName="linear" presStyleCnt="0">
        <dgm:presLayoutVars>
          <dgm:animLvl val="lvl"/>
          <dgm:resizeHandles val="exact"/>
        </dgm:presLayoutVars>
      </dgm:prSet>
      <dgm:spPr/>
    </dgm:pt>
    <dgm:pt modelId="{30642EBF-2FD5-4547-AFDD-B1573EEDEA6B}" type="pres">
      <dgm:prSet presAssocID="{C190878A-46D6-401C-9579-C89874208F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1F55EA-9512-4AD6-AC09-837CBAB085E7}" type="pres">
      <dgm:prSet presAssocID="{4551F44D-31DC-4132-BCCC-D36A49D5A2A2}" presName="spacer" presStyleCnt="0"/>
      <dgm:spPr/>
    </dgm:pt>
    <dgm:pt modelId="{58E74FBE-33A3-419D-9422-2AECA8DC7002}" type="pres">
      <dgm:prSet presAssocID="{09DB54C2-E229-41F4-97D6-A18DC83346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4A565C5-3817-4B11-A485-D702EF2B3015}" type="pres">
      <dgm:prSet presAssocID="{AF0A3C59-603E-4F3B-910B-FA2EAA8AF690}" presName="spacer" presStyleCnt="0"/>
      <dgm:spPr/>
    </dgm:pt>
    <dgm:pt modelId="{4AD27C35-D01F-45E0-8BD8-D4B3497EA238}" type="pres">
      <dgm:prSet presAssocID="{5BBED480-BFB6-4580-B45F-4187006993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A4B379-F782-4EC4-9C5E-FF2D855141B2}" type="pres">
      <dgm:prSet presAssocID="{4F46C070-DC78-4343-BD69-D8AF90A2F21C}" presName="spacer" presStyleCnt="0"/>
      <dgm:spPr/>
    </dgm:pt>
    <dgm:pt modelId="{4458DB36-7B9D-45DC-BA2E-228E8CBC22B9}" type="pres">
      <dgm:prSet presAssocID="{37BF7868-86CE-4BA9-99A0-21CB162B3B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0D3F02-C117-4870-AD7D-73E6D69285CD}" type="presOf" srcId="{71559922-C237-4888-A183-D13D35564AA5}" destId="{2E9F125E-71BD-424D-AC62-4660931C5DD0}" srcOrd="0" destOrd="0" presId="urn:microsoft.com/office/officeart/2005/8/layout/vList2"/>
    <dgm:cxn modelId="{BCFFF24D-C9D7-4CA3-AB2B-86136FB976BB}" srcId="{71559922-C237-4888-A183-D13D35564AA5}" destId="{5BBED480-BFB6-4580-B45F-418700699309}" srcOrd="2" destOrd="0" parTransId="{5B01DF94-1D32-4B47-8D22-0E18A5743762}" sibTransId="{4F46C070-DC78-4343-BD69-D8AF90A2F21C}"/>
    <dgm:cxn modelId="{82610F52-0C94-4130-BA60-3D198D080A18}" srcId="{71559922-C237-4888-A183-D13D35564AA5}" destId="{C190878A-46D6-401C-9579-C89874208F36}" srcOrd="0" destOrd="0" parTransId="{075CA2D9-86CD-4459-8F68-10D614FF2E3A}" sibTransId="{4551F44D-31DC-4132-BCCC-D36A49D5A2A2}"/>
    <dgm:cxn modelId="{816D7385-CCDD-42BB-8325-6C980FF6084B}" type="presOf" srcId="{5BBED480-BFB6-4580-B45F-418700699309}" destId="{4AD27C35-D01F-45E0-8BD8-D4B3497EA238}" srcOrd="0" destOrd="0" presId="urn:microsoft.com/office/officeart/2005/8/layout/vList2"/>
    <dgm:cxn modelId="{F09E3BA3-41B4-4E6D-AF2D-5554A8165B66}" type="presOf" srcId="{37BF7868-86CE-4BA9-99A0-21CB162B3B27}" destId="{4458DB36-7B9D-45DC-BA2E-228E8CBC22B9}" srcOrd="0" destOrd="0" presId="urn:microsoft.com/office/officeart/2005/8/layout/vList2"/>
    <dgm:cxn modelId="{455864AB-78E6-4393-9E9F-94D0382FDA40}" srcId="{71559922-C237-4888-A183-D13D35564AA5}" destId="{37BF7868-86CE-4BA9-99A0-21CB162B3B27}" srcOrd="3" destOrd="0" parTransId="{31C590B9-0BC2-49A2-BBE8-C6F1972420C9}" sibTransId="{4E1B9D2B-CFEF-46E4-AB74-F6F218C6FD51}"/>
    <dgm:cxn modelId="{E9982ED1-20A5-4B40-A3A4-CCE6471404CC}" type="presOf" srcId="{09DB54C2-E229-41F4-97D6-A18DC83346C8}" destId="{58E74FBE-33A3-419D-9422-2AECA8DC7002}" srcOrd="0" destOrd="0" presId="urn:microsoft.com/office/officeart/2005/8/layout/vList2"/>
    <dgm:cxn modelId="{AD35A2D7-5E3C-4517-B6E0-59DEAE0A5336}" srcId="{71559922-C237-4888-A183-D13D35564AA5}" destId="{09DB54C2-E229-41F4-97D6-A18DC83346C8}" srcOrd="1" destOrd="0" parTransId="{F1034FAA-B67C-4AC1-8A1B-8180C1EB9F6E}" sibTransId="{AF0A3C59-603E-4F3B-910B-FA2EAA8AF690}"/>
    <dgm:cxn modelId="{B9D1B4FF-F057-46BB-A48D-E98484C2033C}" type="presOf" srcId="{C190878A-46D6-401C-9579-C89874208F36}" destId="{30642EBF-2FD5-4547-AFDD-B1573EEDEA6B}" srcOrd="0" destOrd="0" presId="urn:microsoft.com/office/officeart/2005/8/layout/vList2"/>
    <dgm:cxn modelId="{EA148918-2F98-4EDF-83EF-1EE722A73FA8}" type="presParOf" srcId="{2E9F125E-71BD-424D-AC62-4660931C5DD0}" destId="{30642EBF-2FD5-4547-AFDD-B1573EEDEA6B}" srcOrd="0" destOrd="0" presId="urn:microsoft.com/office/officeart/2005/8/layout/vList2"/>
    <dgm:cxn modelId="{7B9BA285-3A5C-4229-BF95-B204F0EF19DC}" type="presParOf" srcId="{2E9F125E-71BD-424D-AC62-4660931C5DD0}" destId="{0D1F55EA-9512-4AD6-AC09-837CBAB085E7}" srcOrd="1" destOrd="0" presId="urn:microsoft.com/office/officeart/2005/8/layout/vList2"/>
    <dgm:cxn modelId="{8F69F79D-0F7E-43FB-AC56-EDFD34BD64E3}" type="presParOf" srcId="{2E9F125E-71BD-424D-AC62-4660931C5DD0}" destId="{58E74FBE-33A3-419D-9422-2AECA8DC7002}" srcOrd="2" destOrd="0" presId="urn:microsoft.com/office/officeart/2005/8/layout/vList2"/>
    <dgm:cxn modelId="{862C8621-77CF-4189-99A7-C19AC709DE2C}" type="presParOf" srcId="{2E9F125E-71BD-424D-AC62-4660931C5DD0}" destId="{F4A565C5-3817-4B11-A485-D702EF2B3015}" srcOrd="3" destOrd="0" presId="urn:microsoft.com/office/officeart/2005/8/layout/vList2"/>
    <dgm:cxn modelId="{CEBDBEA5-6B14-49D0-9FC6-71F0E9F37316}" type="presParOf" srcId="{2E9F125E-71BD-424D-AC62-4660931C5DD0}" destId="{4AD27C35-D01F-45E0-8BD8-D4B3497EA238}" srcOrd="4" destOrd="0" presId="urn:microsoft.com/office/officeart/2005/8/layout/vList2"/>
    <dgm:cxn modelId="{B435FA3A-F86D-4480-AAC7-3527805DB921}" type="presParOf" srcId="{2E9F125E-71BD-424D-AC62-4660931C5DD0}" destId="{E3A4B379-F782-4EC4-9C5E-FF2D855141B2}" srcOrd="5" destOrd="0" presId="urn:microsoft.com/office/officeart/2005/8/layout/vList2"/>
    <dgm:cxn modelId="{268F915A-D102-4973-9645-7B0017D5A5AF}" type="presParOf" srcId="{2E9F125E-71BD-424D-AC62-4660931C5DD0}" destId="{4458DB36-7B9D-45DC-BA2E-228E8CBC22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42EBF-2FD5-4547-AFDD-B1573EEDEA6B}">
      <dsp:nvSpPr>
        <dsp:cNvPr id="0" name=""/>
        <dsp:cNvSpPr/>
      </dsp:nvSpPr>
      <dsp:spPr>
        <a:xfrm>
          <a:off x="0" y="2934"/>
          <a:ext cx="5070020" cy="9833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100" kern="1200" dirty="0"/>
            <a:t>SPI</a:t>
          </a:r>
          <a:endParaRPr lang="en-US" sz="4100" kern="1200" dirty="0"/>
        </a:p>
      </dsp:txBody>
      <dsp:txXfrm>
        <a:off x="48005" y="50939"/>
        <a:ext cx="4974010" cy="887374"/>
      </dsp:txXfrm>
    </dsp:sp>
    <dsp:sp modelId="{58E74FBE-33A3-419D-9422-2AECA8DC7002}">
      <dsp:nvSpPr>
        <dsp:cNvPr id="0" name=""/>
        <dsp:cNvSpPr/>
      </dsp:nvSpPr>
      <dsp:spPr>
        <a:xfrm>
          <a:off x="0" y="1104399"/>
          <a:ext cx="5070020" cy="9833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100" kern="1200" dirty="0"/>
            <a:t>PWM</a:t>
          </a:r>
          <a:endParaRPr lang="en-US" sz="4100" kern="1200" dirty="0"/>
        </a:p>
      </dsp:txBody>
      <dsp:txXfrm>
        <a:off x="48005" y="1152404"/>
        <a:ext cx="4974010" cy="887374"/>
      </dsp:txXfrm>
    </dsp:sp>
    <dsp:sp modelId="{4AD27C35-D01F-45E0-8BD8-D4B3497EA238}">
      <dsp:nvSpPr>
        <dsp:cNvPr id="0" name=""/>
        <dsp:cNvSpPr/>
      </dsp:nvSpPr>
      <dsp:spPr>
        <a:xfrm>
          <a:off x="0" y="2205864"/>
          <a:ext cx="5070020" cy="9833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100" kern="1200"/>
            <a:t>HTTP</a:t>
          </a:r>
          <a:endParaRPr lang="en-US" sz="4100" kern="1200"/>
        </a:p>
      </dsp:txBody>
      <dsp:txXfrm>
        <a:off x="48005" y="2253869"/>
        <a:ext cx="4974010" cy="887374"/>
      </dsp:txXfrm>
    </dsp:sp>
    <dsp:sp modelId="{4458DB36-7B9D-45DC-BA2E-228E8CBC22B9}">
      <dsp:nvSpPr>
        <dsp:cNvPr id="0" name=""/>
        <dsp:cNvSpPr/>
      </dsp:nvSpPr>
      <dsp:spPr>
        <a:xfrm>
          <a:off x="0" y="3307329"/>
          <a:ext cx="5070020" cy="9833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100" kern="1200"/>
            <a:t>OCR</a:t>
          </a:r>
          <a:endParaRPr lang="en-US" sz="4100" kern="1200"/>
        </a:p>
      </dsp:txBody>
      <dsp:txXfrm>
        <a:off x="48005" y="3355334"/>
        <a:ext cx="497401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jp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jp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BA-385E-B100-D3B2-83F877ED7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Trieur de </a:t>
            </a:r>
            <a:r>
              <a:rPr lang="en-US" dirty="0" err="1"/>
              <a:t>cartes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“Magic The gathering”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797C-B534-8121-1EFA-68AC9E565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98" y="5834106"/>
            <a:ext cx="4184904" cy="918015"/>
          </a:xfrm>
        </p:spPr>
        <p:txBody>
          <a:bodyPr/>
          <a:lstStyle/>
          <a:p>
            <a:r>
              <a:rPr lang="en-US" dirty="0"/>
              <a:t>Benjamin Masse – 3ème </a:t>
            </a:r>
            <a:r>
              <a:rPr lang="en-US" dirty="0" err="1"/>
              <a:t>année</a:t>
            </a:r>
            <a:r>
              <a:rPr lang="fr-CA" dirty="0"/>
              <a:t> en génie électrique profil TSO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B5ADC-439E-8BF3-9088-90C43F8880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" b="1481"/>
          <a:stretch/>
        </p:blipFill>
        <p:spPr>
          <a:xfrm>
            <a:off x="7681816" y="0"/>
            <a:ext cx="4510185" cy="6096000"/>
          </a:xfrm>
        </p:spPr>
      </p:pic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BAC06F8-3A88-6D1D-6DD0-9B390E9DB2FA}"/>
              </a:ext>
            </a:extLst>
          </p:cNvPr>
          <p:cNvCxnSpPr>
            <a:cxnSpLocks/>
          </p:cNvCxnSpPr>
          <p:nvPr/>
        </p:nvCxnSpPr>
        <p:spPr>
          <a:xfrm>
            <a:off x="4871864" y="3348008"/>
            <a:ext cx="72008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551AE7E7-776F-28E9-7DFD-402A9F88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44" y="66885"/>
            <a:ext cx="7044149" cy="847193"/>
          </a:xfrm>
        </p:spPr>
        <p:txBody>
          <a:bodyPr>
            <a:normAutofit fontScale="90000"/>
          </a:bodyPr>
          <a:lstStyle/>
          <a:p>
            <a:r>
              <a:rPr lang="fr-CA" sz="4000" dirty="0"/>
              <a:t>Fonctionnement Général</a:t>
            </a:r>
            <a:br>
              <a:rPr lang="fr-CA" sz="4000" dirty="0"/>
            </a:br>
            <a:r>
              <a:rPr lang="fr-CA" sz="1800" dirty="0"/>
              <a:t>schéma synoptique</a:t>
            </a:r>
            <a:endParaRPr lang="en-CA" sz="18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06CFA09-676C-1E88-6B6B-3F4CDFA0419F}"/>
              </a:ext>
            </a:extLst>
          </p:cNvPr>
          <p:cNvSpPr/>
          <p:nvPr/>
        </p:nvSpPr>
        <p:spPr>
          <a:xfrm>
            <a:off x="683696" y="4088732"/>
            <a:ext cx="1512168" cy="84719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ESP #2</a:t>
            </a:r>
          </a:p>
          <a:p>
            <a:pPr algn="ctr"/>
            <a:r>
              <a:rPr lang="en-CA" sz="1000" dirty="0" err="1"/>
              <a:t>Contrôleur</a:t>
            </a:r>
            <a:r>
              <a:rPr lang="en-CA" sz="1000" dirty="0"/>
              <a:t> </a:t>
            </a:r>
          </a:p>
          <a:p>
            <a:pPr algn="ctr"/>
            <a:r>
              <a:rPr lang="en-CA" sz="1000" dirty="0" err="1"/>
              <a:t>moteurs</a:t>
            </a:r>
            <a:r>
              <a:rPr lang="en-CA" sz="1000" dirty="0"/>
              <a:t> / </a:t>
            </a:r>
            <a:r>
              <a:rPr lang="en-CA" sz="1000" dirty="0" err="1"/>
              <a:t>écran</a:t>
            </a:r>
            <a:endParaRPr lang="en-CA" sz="1000" dirty="0"/>
          </a:p>
        </p:txBody>
      </p:sp>
      <p:sp>
        <p:nvSpPr>
          <p:cNvPr id="6" name="Nuage 5">
            <a:extLst>
              <a:ext uri="{FF2B5EF4-FFF2-40B4-BE49-F238E27FC236}">
                <a16:creationId xmlns:a16="http://schemas.microsoft.com/office/drawing/2014/main" id="{1CC6E45B-CE0A-7D8F-98E1-8095AA01734F}"/>
              </a:ext>
            </a:extLst>
          </p:cNvPr>
          <p:cNvSpPr/>
          <p:nvPr/>
        </p:nvSpPr>
        <p:spPr>
          <a:xfrm>
            <a:off x="9458433" y="0"/>
            <a:ext cx="2723607" cy="1484784"/>
          </a:xfrm>
          <a:prstGeom prst="cloud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Utilisateur place ses cartes dans le compartiment principal</a:t>
            </a:r>
            <a:endParaRPr lang="en-CA" sz="1200" dirty="0"/>
          </a:p>
        </p:txBody>
      </p:sp>
      <p:sp>
        <p:nvSpPr>
          <p:cNvPr id="12" name="Accolades 11">
            <a:extLst>
              <a:ext uri="{FF2B5EF4-FFF2-40B4-BE49-F238E27FC236}">
                <a16:creationId xmlns:a16="http://schemas.microsoft.com/office/drawing/2014/main" id="{71FCE593-3F0B-0431-8C7E-E3E74B869B5D}"/>
              </a:ext>
            </a:extLst>
          </p:cNvPr>
          <p:cNvSpPr/>
          <p:nvPr/>
        </p:nvSpPr>
        <p:spPr>
          <a:xfrm>
            <a:off x="455993" y="5846416"/>
            <a:ext cx="1512168" cy="21602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ccolades 12">
            <a:extLst>
              <a:ext uri="{FF2B5EF4-FFF2-40B4-BE49-F238E27FC236}">
                <a16:creationId xmlns:a16="http://schemas.microsoft.com/office/drawing/2014/main" id="{654655B1-4BA4-76D9-95A2-04490D6AB14C}"/>
              </a:ext>
            </a:extLst>
          </p:cNvPr>
          <p:cNvSpPr/>
          <p:nvPr/>
        </p:nvSpPr>
        <p:spPr>
          <a:xfrm>
            <a:off x="132345" y="5563627"/>
            <a:ext cx="2880320" cy="136815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D244464A-AF82-B751-A6CE-EA83A5C68A60}"/>
              </a:ext>
            </a:extLst>
          </p:cNvPr>
          <p:cNvSpPr/>
          <p:nvPr/>
        </p:nvSpPr>
        <p:spPr>
          <a:xfrm>
            <a:off x="275973" y="5539283"/>
            <a:ext cx="1446112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Envoie d’une carte</a:t>
            </a:r>
            <a:endParaRPr lang="en-CA" sz="1100" dirty="0"/>
          </a:p>
        </p:txBody>
      </p:sp>
      <p:sp>
        <p:nvSpPr>
          <p:cNvPr id="11" name="Nuage 10">
            <a:extLst>
              <a:ext uri="{FF2B5EF4-FFF2-40B4-BE49-F238E27FC236}">
                <a16:creationId xmlns:a16="http://schemas.microsoft.com/office/drawing/2014/main" id="{EED0C382-AE9C-231D-DF51-5122C95DA5F5}"/>
              </a:ext>
            </a:extLst>
          </p:cNvPr>
          <p:cNvSpPr/>
          <p:nvPr/>
        </p:nvSpPr>
        <p:spPr>
          <a:xfrm>
            <a:off x="95953" y="5306356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1</a:t>
            </a:r>
            <a:endParaRPr lang="en-CA" dirty="0"/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075BBDF8-E027-3509-0BDB-503FE1F49F0F}"/>
              </a:ext>
            </a:extLst>
          </p:cNvPr>
          <p:cNvCxnSpPr>
            <a:cxnSpLocks/>
          </p:cNvCxnSpPr>
          <p:nvPr/>
        </p:nvCxnSpPr>
        <p:spPr>
          <a:xfrm rot="5400000">
            <a:off x="838873" y="5088200"/>
            <a:ext cx="603358" cy="29881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Accolades 24">
            <a:extLst>
              <a:ext uri="{FF2B5EF4-FFF2-40B4-BE49-F238E27FC236}">
                <a16:creationId xmlns:a16="http://schemas.microsoft.com/office/drawing/2014/main" id="{7BA81430-341E-3B3B-9C91-9147B309A179}"/>
              </a:ext>
            </a:extLst>
          </p:cNvPr>
          <p:cNvSpPr/>
          <p:nvPr/>
        </p:nvSpPr>
        <p:spPr>
          <a:xfrm>
            <a:off x="455993" y="2300267"/>
            <a:ext cx="1314455" cy="21602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 : avec coins arrondis en diagonale 25">
            <a:extLst>
              <a:ext uri="{FF2B5EF4-FFF2-40B4-BE49-F238E27FC236}">
                <a16:creationId xmlns:a16="http://schemas.microsoft.com/office/drawing/2014/main" id="{1AE93A0F-5EE9-DCD6-6E0C-FA006742F1D5}"/>
              </a:ext>
            </a:extLst>
          </p:cNvPr>
          <p:cNvSpPr/>
          <p:nvPr/>
        </p:nvSpPr>
        <p:spPr>
          <a:xfrm>
            <a:off x="275973" y="1993134"/>
            <a:ext cx="1446112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Photographie</a:t>
            </a:r>
            <a:endParaRPr lang="en-CA" sz="1100" dirty="0"/>
          </a:p>
        </p:txBody>
      </p:sp>
      <p:sp>
        <p:nvSpPr>
          <p:cNvPr id="27" name="Nuage 26">
            <a:extLst>
              <a:ext uri="{FF2B5EF4-FFF2-40B4-BE49-F238E27FC236}">
                <a16:creationId xmlns:a16="http://schemas.microsoft.com/office/drawing/2014/main" id="{86E7E465-A1AE-C6D9-D515-075AE08FA57B}"/>
              </a:ext>
            </a:extLst>
          </p:cNvPr>
          <p:cNvSpPr/>
          <p:nvPr/>
        </p:nvSpPr>
        <p:spPr>
          <a:xfrm>
            <a:off x="120641" y="1774318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2</a:t>
            </a:r>
            <a:endParaRPr lang="en-CA" dirty="0"/>
          </a:p>
        </p:txBody>
      </p: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7A119A14-BFF6-ABE3-2789-006D41ACE176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V="1">
            <a:off x="928020" y="2424184"/>
            <a:ext cx="582771" cy="44075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771D4BCD-EF24-A1A7-BA0F-480FAE0D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" t="91999" r="61700" b="1536"/>
          <a:stretch>
            <a:fillRect/>
          </a:stretch>
        </p:blipFill>
        <p:spPr>
          <a:xfrm>
            <a:off x="480681" y="1188631"/>
            <a:ext cx="2141095" cy="5272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E9D7B6C9-F8DB-72B6-CA98-BF2B91D0EBD0}"/>
              </a:ext>
            </a:extLst>
          </p:cNvPr>
          <p:cNvSpPr/>
          <p:nvPr/>
        </p:nvSpPr>
        <p:spPr>
          <a:xfrm>
            <a:off x="683696" y="2915377"/>
            <a:ext cx="1512168" cy="84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ESP #1</a:t>
            </a:r>
          </a:p>
          <a:p>
            <a:pPr algn="ctr"/>
            <a:r>
              <a:rPr lang="fr-CA" sz="1000" dirty="0"/>
              <a:t>Contrôleur caméra</a:t>
            </a:r>
            <a:endParaRPr lang="en-CA" sz="1000" dirty="0"/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B12C8676-B998-E945-B0AB-6A2E2388E81B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2195864" y="3338974"/>
            <a:ext cx="51576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A26F15DB-12B7-1DB9-DEBC-0207BF4E4629}"/>
              </a:ext>
            </a:extLst>
          </p:cNvPr>
          <p:cNvCxnSpPr>
            <a:cxnSpLocks/>
          </p:cNvCxnSpPr>
          <p:nvPr/>
        </p:nvCxnSpPr>
        <p:spPr>
          <a:xfrm flipV="1">
            <a:off x="3863752" y="2408279"/>
            <a:ext cx="0" cy="660681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 : avec coins arrondis en diagonale 56">
            <a:extLst>
              <a:ext uri="{FF2B5EF4-FFF2-40B4-BE49-F238E27FC236}">
                <a16:creationId xmlns:a16="http://schemas.microsoft.com/office/drawing/2014/main" id="{0D865239-E7E5-1B82-443A-BB5DD8602E61}"/>
              </a:ext>
            </a:extLst>
          </p:cNvPr>
          <p:cNvSpPr/>
          <p:nvPr/>
        </p:nvSpPr>
        <p:spPr>
          <a:xfrm>
            <a:off x="3140696" y="2033931"/>
            <a:ext cx="1446112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Envoie vers serveur web</a:t>
            </a:r>
            <a:endParaRPr lang="en-CA" sz="1100" dirty="0"/>
          </a:p>
        </p:txBody>
      </p:sp>
      <p:sp>
        <p:nvSpPr>
          <p:cNvPr id="58" name="Nuage 57">
            <a:extLst>
              <a:ext uri="{FF2B5EF4-FFF2-40B4-BE49-F238E27FC236}">
                <a16:creationId xmlns:a16="http://schemas.microsoft.com/office/drawing/2014/main" id="{8B0D376E-B89B-5D5E-0D8D-B3D9B6E8A803}"/>
              </a:ext>
            </a:extLst>
          </p:cNvPr>
          <p:cNvSpPr/>
          <p:nvPr/>
        </p:nvSpPr>
        <p:spPr>
          <a:xfrm>
            <a:off x="2960676" y="1803932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3</a:t>
            </a:r>
            <a:endParaRPr lang="en-CA" dirty="0"/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35B6EF54-25B7-F633-7512-1A9CA06FED0F}"/>
              </a:ext>
            </a:extLst>
          </p:cNvPr>
          <p:cNvSpPr/>
          <p:nvPr/>
        </p:nvSpPr>
        <p:spPr>
          <a:xfrm>
            <a:off x="5558923" y="2933653"/>
            <a:ext cx="1584171" cy="84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Render.com</a:t>
            </a:r>
            <a:endParaRPr lang="en-CA" sz="1000" dirty="0"/>
          </a:p>
        </p:txBody>
      </p:sp>
      <p:sp>
        <p:nvSpPr>
          <p:cNvPr id="66" name="Rectangle : avec coins arrondis en diagonale 65">
            <a:extLst>
              <a:ext uri="{FF2B5EF4-FFF2-40B4-BE49-F238E27FC236}">
                <a16:creationId xmlns:a16="http://schemas.microsoft.com/office/drawing/2014/main" id="{6CA5B7E1-304D-E66E-0ED5-2E82329AEC0D}"/>
              </a:ext>
            </a:extLst>
          </p:cNvPr>
          <p:cNvSpPr/>
          <p:nvPr/>
        </p:nvSpPr>
        <p:spPr>
          <a:xfrm>
            <a:off x="5621866" y="2041910"/>
            <a:ext cx="1446112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Extraction de texte</a:t>
            </a:r>
            <a:endParaRPr lang="en-CA" sz="1100" dirty="0"/>
          </a:p>
        </p:txBody>
      </p:sp>
      <p:sp>
        <p:nvSpPr>
          <p:cNvPr id="68" name="Nuage 67">
            <a:extLst>
              <a:ext uri="{FF2B5EF4-FFF2-40B4-BE49-F238E27FC236}">
                <a16:creationId xmlns:a16="http://schemas.microsoft.com/office/drawing/2014/main" id="{099FEE86-F181-4DA8-62B0-397D2ACC37A0}"/>
              </a:ext>
            </a:extLst>
          </p:cNvPr>
          <p:cNvSpPr/>
          <p:nvPr/>
        </p:nvSpPr>
        <p:spPr>
          <a:xfrm>
            <a:off x="5441846" y="1812871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4</a:t>
            </a:r>
            <a:endParaRPr lang="en-CA" dirty="0"/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77764732-0422-5ED4-7F1A-B24B4B3F21E8}"/>
              </a:ext>
            </a:extLst>
          </p:cNvPr>
          <p:cNvCxnSpPr>
            <a:cxnSpLocks/>
            <a:stCxn id="65" idx="0"/>
            <a:endCxn id="66" idx="1"/>
          </p:cNvCxnSpPr>
          <p:nvPr/>
        </p:nvCxnSpPr>
        <p:spPr>
          <a:xfrm flipH="1" flipV="1">
            <a:off x="6344922" y="2401950"/>
            <a:ext cx="6087" cy="53170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DEC72E8A-4E69-860C-BDE9-E6B7A4A61B03}"/>
              </a:ext>
            </a:extLst>
          </p:cNvPr>
          <p:cNvCxnSpPr>
            <a:cxnSpLocks/>
            <a:stCxn id="66" idx="3"/>
            <a:endCxn id="73" idx="1"/>
          </p:cNvCxnSpPr>
          <p:nvPr/>
        </p:nvCxnSpPr>
        <p:spPr>
          <a:xfrm flipV="1">
            <a:off x="6344922" y="1510207"/>
            <a:ext cx="0" cy="53170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Rectangle : avec coins arrondis en diagonale 72">
            <a:extLst>
              <a:ext uri="{FF2B5EF4-FFF2-40B4-BE49-F238E27FC236}">
                <a16:creationId xmlns:a16="http://schemas.microsoft.com/office/drawing/2014/main" id="{FD50F0A4-497F-26DF-A9D9-AD0DCE8BED7E}"/>
              </a:ext>
            </a:extLst>
          </p:cNvPr>
          <p:cNvSpPr/>
          <p:nvPr/>
        </p:nvSpPr>
        <p:spPr>
          <a:xfrm>
            <a:off x="5479337" y="1150167"/>
            <a:ext cx="1731169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Extraction # de carte / # de collection</a:t>
            </a:r>
            <a:endParaRPr lang="en-CA" sz="1100" dirty="0"/>
          </a:p>
        </p:txBody>
      </p:sp>
      <p:sp>
        <p:nvSpPr>
          <p:cNvPr id="74" name="Nuage 73">
            <a:extLst>
              <a:ext uri="{FF2B5EF4-FFF2-40B4-BE49-F238E27FC236}">
                <a16:creationId xmlns:a16="http://schemas.microsoft.com/office/drawing/2014/main" id="{7CCF9154-6663-F46B-ED03-D8807AD744BC}"/>
              </a:ext>
            </a:extLst>
          </p:cNvPr>
          <p:cNvSpPr/>
          <p:nvPr/>
        </p:nvSpPr>
        <p:spPr>
          <a:xfrm>
            <a:off x="5266787" y="921128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5</a:t>
            </a:r>
            <a:endParaRPr lang="en-CA" dirty="0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42FF53D0-604A-5448-198A-0616F6AFD0FB}"/>
              </a:ext>
            </a:extLst>
          </p:cNvPr>
          <p:cNvSpPr/>
          <p:nvPr/>
        </p:nvSpPr>
        <p:spPr>
          <a:xfrm>
            <a:off x="9283299" y="2933652"/>
            <a:ext cx="1961881" cy="84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api.scryfall.com</a:t>
            </a:r>
          </a:p>
          <a:p>
            <a:pPr algn="ctr"/>
            <a:r>
              <a:rPr lang="fr-CA" sz="1000" dirty="0"/>
              <a:t>(</a:t>
            </a:r>
            <a:r>
              <a:rPr lang="fr-CA" sz="1000" dirty="0" err="1"/>
              <a:t>database</a:t>
            </a:r>
            <a:r>
              <a:rPr lang="fr-CA" sz="1000" dirty="0"/>
              <a:t>)</a:t>
            </a:r>
            <a:endParaRPr lang="en-CA" sz="1000" dirty="0"/>
          </a:p>
        </p:txBody>
      </p: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F40F7E44-7660-1353-2601-554F3D485731}"/>
              </a:ext>
            </a:extLst>
          </p:cNvPr>
          <p:cNvCxnSpPr>
            <a:cxnSpLocks/>
            <a:stCxn id="85" idx="0"/>
            <a:endCxn id="76" idx="1"/>
          </p:cNvCxnSpPr>
          <p:nvPr/>
        </p:nvCxnSpPr>
        <p:spPr>
          <a:xfrm>
            <a:off x="8961075" y="3357249"/>
            <a:ext cx="322224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 : avec coins arrondis en diagonale 84">
            <a:extLst>
              <a:ext uri="{FF2B5EF4-FFF2-40B4-BE49-F238E27FC236}">
                <a16:creationId xmlns:a16="http://schemas.microsoft.com/office/drawing/2014/main" id="{90309D13-1FD2-19B8-6060-B0DC0DF9D9E2}"/>
              </a:ext>
            </a:extLst>
          </p:cNvPr>
          <p:cNvSpPr/>
          <p:nvPr/>
        </p:nvSpPr>
        <p:spPr>
          <a:xfrm>
            <a:off x="7514963" y="3177229"/>
            <a:ext cx="1446112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Envoie vers </a:t>
            </a:r>
            <a:r>
              <a:rPr lang="fr-CA" sz="1100" dirty="0" err="1"/>
              <a:t>database</a:t>
            </a:r>
            <a:endParaRPr lang="en-CA" sz="1100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24DB8E9-CEFB-0279-FF26-B50023C9F828}"/>
              </a:ext>
            </a:extLst>
          </p:cNvPr>
          <p:cNvSpPr/>
          <p:nvPr/>
        </p:nvSpPr>
        <p:spPr>
          <a:xfrm>
            <a:off x="6453382" y="690024"/>
            <a:ext cx="2170919" cy="59105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0002 / DRC</a:t>
            </a:r>
            <a:endParaRPr lang="en-CA" dirty="0"/>
          </a:p>
        </p:txBody>
      </p: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1B4B591A-FE8D-B0F8-564F-08E536BE40A1}"/>
              </a:ext>
            </a:extLst>
          </p:cNvPr>
          <p:cNvCxnSpPr>
            <a:cxnSpLocks/>
            <a:stCxn id="65" idx="3"/>
            <a:endCxn id="85" idx="2"/>
          </p:cNvCxnSpPr>
          <p:nvPr/>
        </p:nvCxnSpPr>
        <p:spPr>
          <a:xfrm flipV="1">
            <a:off x="7143094" y="3357249"/>
            <a:ext cx="371869" cy="1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2" name="Nuage 101">
            <a:extLst>
              <a:ext uri="{FF2B5EF4-FFF2-40B4-BE49-F238E27FC236}">
                <a16:creationId xmlns:a16="http://schemas.microsoft.com/office/drawing/2014/main" id="{2C6ACACB-1934-A088-2B7C-8D6EA6128B5D}"/>
              </a:ext>
            </a:extLst>
          </p:cNvPr>
          <p:cNvSpPr/>
          <p:nvPr/>
        </p:nvSpPr>
        <p:spPr>
          <a:xfrm>
            <a:off x="7359116" y="2915377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6</a:t>
            </a:r>
            <a:endParaRPr lang="en-CA" dirty="0"/>
          </a:p>
        </p:txBody>
      </p:sp>
      <p:sp>
        <p:nvSpPr>
          <p:cNvPr id="113" name="Rectangle : avec coins arrondis en diagonale 112">
            <a:extLst>
              <a:ext uri="{FF2B5EF4-FFF2-40B4-BE49-F238E27FC236}">
                <a16:creationId xmlns:a16="http://schemas.microsoft.com/office/drawing/2014/main" id="{0C427164-AF21-3BB2-061D-FECD8367A66B}"/>
              </a:ext>
            </a:extLst>
          </p:cNvPr>
          <p:cNvSpPr/>
          <p:nvPr/>
        </p:nvSpPr>
        <p:spPr>
          <a:xfrm>
            <a:off x="7580862" y="4755905"/>
            <a:ext cx="1541325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Renvoie information de la carte</a:t>
            </a:r>
            <a:endParaRPr lang="en-CA" sz="1100" dirty="0"/>
          </a:p>
        </p:txBody>
      </p:sp>
      <p:sp>
        <p:nvSpPr>
          <p:cNvPr id="116" name="Nuage 115">
            <a:extLst>
              <a:ext uri="{FF2B5EF4-FFF2-40B4-BE49-F238E27FC236}">
                <a16:creationId xmlns:a16="http://schemas.microsoft.com/office/drawing/2014/main" id="{61D8A212-AC1F-D8D6-B57A-B00006CE2BBD}"/>
              </a:ext>
            </a:extLst>
          </p:cNvPr>
          <p:cNvSpPr/>
          <p:nvPr/>
        </p:nvSpPr>
        <p:spPr>
          <a:xfrm>
            <a:off x="7374921" y="4517480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7</a:t>
            </a:r>
            <a:endParaRPr lang="en-CA" dirty="0"/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0CDCEA14-21DA-56CD-BFC0-F4790E9B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166" y="4935924"/>
            <a:ext cx="4425962" cy="2130141"/>
          </a:xfrm>
          <a:prstGeom prst="rect">
            <a:avLst/>
          </a:prstGeom>
        </p:spPr>
      </p:pic>
      <p:cxnSp>
        <p:nvCxnSpPr>
          <p:cNvPr id="132" name="Connecteur : en angle 131">
            <a:extLst>
              <a:ext uri="{FF2B5EF4-FFF2-40B4-BE49-F238E27FC236}">
                <a16:creationId xmlns:a16="http://schemas.microsoft.com/office/drawing/2014/main" id="{264E9E60-82F3-802C-F3B2-17C8FEA43652}"/>
              </a:ext>
            </a:extLst>
          </p:cNvPr>
          <p:cNvCxnSpPr>
            <a:cxnSpLocks/>
            <a:stCxn id="113" idx="2"/>
          </p:cNvCxnSpPr>
          <p:nvPr/>
        </p:nvCxnSpPr>
        <p:spPr>
          <a:xfrm rot="10800000">
            <a:off x="6804824" y="3775695"/>
            <a:ext cx="776039" cy="1160231"/>
          </a:xfrm>
          <a:prstGeom prst="bentConnector2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Connecteur : en angle 140">
            <a:extLst>
              <a:ext uri="{FF2B5EF4-FFF2-40B4-BE49-F238E27FC236}">
                <a16:creationId xmlns:a16="http://schemas.microsoft.com/office/drawing/2014/main" id="{3C3569F9-6ABF-26B5-4D34-44951CCE54D1}"/>
              </a:ext>
            </a:extLst>
          </p:cNvPr>
          <p:cNvCxnSpPr>
            <a:cxnSpLocks/>
            <a:stCxn id="76" idx="2"/>
            <a:endCxn id="113" idx="0"/>
          </p:cNvCxnSpPr>
          <p:nvPr/>
        </p:nvCxnSpPr>
        <p:spPr>
          <a:xfrm rot="5400000">
            <a:off x="9115674" y="3787359"/>
            <a:ext cx="1155080" cy="114205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9" name="Image 148">
            <a:extLst>
              <a:ext uri="{FF2B5EF4-FFF2-40B4-BE49-F238E27FC236}">
                <a16:creationId xmlns:a16="http://schemas.microsoft.com/office/drawing/2014/main" id="{D0787BAA-D50C-8B00-50BC-BAE373AC8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417" y="6029821"/>
            <a:ext cx="2505007" cy="292984"/>
          </a:xfrm>
          <a:prstGeom prst="rect">
            <a:avLst/>
          </a:prstGeom>
        </p:spPr>
      </p:pic>
      <p:sp>
        <p:nvSpPr>
          <p:cNvPr id="150" name="Rectangle : avec coins arrondis en diagonale 149">
            <a:extLst>
              <a:ext uri="{FF2B5EF4-FFF2-40B4-BE49-F238E27FC236}">
                <a16:creationId xmlns:a16="http://schemas.microsoft.com/office/drawing/2014/main" id="{55CA27ED-557A-5052-A1AB-D8946C902F79}"/>
              </a:ext>
            </a:extLst>
          </p:cNvPr>
          <p:cNvSpPr/>
          <p:nvPr/>
        </p:nvSpPr>
        <p:spPr>
          <a:xfrm>
            <a:off x="5577204" y="5666396"/>
            <a:ext cx="1541325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Enregistrement du type</a:t>
            </a:r>
            <a:endParaRPr lang="en-CA" sz="1100" dirty="0"/>
          </a:p>
        </p:txBody>
      </p:sp>
      <p:sp>
        <p:nvSpPr>
          <p:cNvPr id="151" name="Nuage 150">
            <a:extLst>
              <a:ext uri="{FF2B5EF4-FFF2-40B4-BE49-F238E27FC236}">
                <a16:creationId xmlns:a16="http://schemas.microsoft.com/office/drawing/2014/main" id="{8BF2FC45-18F8-C247-6874-A18293E86C83}"/>
              </a:ext>
            </a:extLst>
          </p:cNvPr>
          <p:cNvSpPr/>
          <p:nvPr/>
        </p:nvSpPr>
        <p:spPr>
          <a:xfrm>
            <a:off x="5299406" y="5467393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8</a:t>
            </a:r>
            <a:endParaRPr lang="en-CA" dirty="0"/>
          </a:p>
        </p:txBody>
      </p:sp>
      <p:cxnSp>
        <p:nvCxnSpPr>
          <p:cNvPr id="154" name="Connecteur droit avec flèche 153">
            <a:extLst>
              <a:ext uri="{FF2B5EF4-FFF2-40B4-BE49-F238E27FC236}">
                <a16:creationId xmlns:a16="http://schemas.microsoft.com/office/drawing/2014/main" id="{1C9686E6-4CBD-6182-8778-F5633E1B2112}"/>
              </a:ext>
            </a:extLst>
          </p:cNvPr>
          <p:cNvCxnSpPr>
            <a:cxnSpLocks/>
          </p:cNvCxnSpPr>
          <p:nvPr/>
        </p:nvCxnSpPr>
        <p:spPr>
          <a:xfrm>
            <a:off x="6294771" y="4166919"/>
            <a:ext cx="909910" cy="523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avec flèche 156">
            <a:extLst>
              <a:ext uri="{FF2B5EF4-FFF2-40B4-BE49-F238E27FC236}">
                <a16:creationId xmlns:a16="http://schemas.microsoft.com/office/drawing/2014/main" id="{6DB2A3EC-45B3-D501-0668-1C21FFE8F64D}"/>
              </a:ext>
            </a:extLst>
          </p:cNvPr>
          <p:cNvCxnSpPr>
            <a:cxnSpLocks/>
            <a:stCxn id="65" idx="2"/>
            <a:endCxn id="150" idx="3"/>
          </p:cNvCxnSpPr>
          <p:nvPr/>
        </p:nvCxnSpPr>
        <p:spPr>
          <a:xfrm flipH="1">
            <a:off x="6347867" y="3780846"/>
            <a:ext cx="3142" cy="188555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Connecteur droit avec flèche 177">
            <a:extLst>
              <a:ext uri="{FF2B5EF4-FFF2-40B4-BE49-F238E27FC236}">
                <a16:creationId xmlns:a16="http://schemas.microsoft.com/office/drawing/2014/main" id="{DC4ED4F4-E5CD-4FF8-1D42-93EB17B11D7A}"/>
              </a:ext>
            </a:extLst>
          </p:cNvPr>
          <p:cNvCxnSpPr>
            <a:cxnSpLocks/>
          </p:cNvCxnSpPr>
          <p:nvPr/>
        </p:nvCxnSpPr>
        <p:spPr>
          <a:xfrm flipV="1">
            <a:off x="5970858" y="3784231"/>
            <a:ext cx="0" cy="727084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Connecteur droit 181">
            <a:extLst>
              <a:ext uri="{FF2B5EF4-FFF2-40B4-BE49-F238E27FC236}">
                <a16:creationId xmlns:a16="http://schemas.microsoft.com/office/drawing/2014/main" id="{D90DD23A-963B-6557-EFA8-8748EA14B4AF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195864" y="4511315"/>
            <a:ext cx="3774993" cy="101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6" name="Rectangle : avec coins arrondis en diagonale 195">
            <a:extLst>
              <a:ext uri="{FF2B5EF4-FFF2-40B4-BE49-F238E27FC236}">
                <a16:creationId xmlns:a16="http://schemas.microsoft.com/office/drawing/2014/main" id="{BB548CF7-AADA-AAB3-2940-464446185B04}"/>
              </a:ext>
            </a:extLst>
          </p:cNvPr>
          <p:cNvSpPr/>
          <p:nvPr/>
        </p:nvSpPr>
        <p:spPr>
          <a:xfrm>
            <a:off x="3200048" y="4355811"/>
            <a:ext cx="1691884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Requête du type de la dernière carte</a:t>
            </a:r>
            <a:endParaRPr lang="en-CA" sz="1100" dirty="0"/>
          </a:p>
        </p:txBody>
      </p:sp>
      <p:sp>
        <p:nvSpPr>
          <p:cNvPr id="197" name="Nuage 196">
            <a:extLst>
              <a:ext uri="{FF2B5EF4-FFF2-40B4-BE49-F238E27FC236}">
                <a16:creationId xmlns:a16="http://schemas.microsoft.com/office/drawing/2014/main" id="{50986A47-050A-8AA9-19DA-B0C290FB8D55}"/>
              </a:ext>
            </a:extLst>
          </p:cNvPr>
          <p:cNvSpPr/>
          <p:nvPr/>
        </p:nvSpPr>
        <p:spPr>
          <a:xfrm>
            <a:off x="2960324" y="4117913"/>
            <a:ext cx="360040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9</a:t>
            </a:r>
            <a:endParaRPr lang="en-CA" dirty="0"/>
          </a:p>
        </p:txBody>
      </p:sp>
      <p:sp>
        <p:nvSpPr>
          <p:cNvPr id="201" name="Rectangle : avec coins arrondis en diagonale 200">
            <a:extLst>
              <a:ext uri="{FF2B5EF4-FFF2-40B4-BE49-F238E27FC236}">
                <a16:creationId xmlns:a16="http://schemas.microsoft.com/office/drawing/2014/main" id="{0742E4B0-A5AE-6996-4C0F-0287AB6DCD4B}"/>
              </a:ext>
            </a:extLst>
          </p:cNvPr>
          <p:cNvSpPr/>
          <p:nvPr/>
        </p:nvSpPr>
        <p:spPr>
          <a:xfrm>
            <a:off x="2709759" y="5567242"/>
            <a:ext cx="1691884" cy="36004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100" dirty="0"/>
              <a:t>Déplacement des moteurs</a:t>
            </a:r>
            <a:endParaRPr lang="en-CA" sz="1100" dirty="0"/>
          </a:p>
        </p:txBody>
      </p:sp>
      <p:sp>
        <p:nvSpPr>
          <p:cNvPr id="202" name="Nuage 201">
            <a:extLst>
              <a:ext uri="{FF2B5EF4-FFF2-40B4-BE49-F238E27FC236}">
                <a16:creationId xmlns:a16="http://schemas.microsoft.com/office/drawing/2014/main" id="{530DD67B-3A1A-2B4D-8368-39DFDFE3ADAF}"/>
              </a:ext>
            </a:extLst>
          </p:cNvPr>
          <p:cNvSpPr/>
          <p:nvPr/>
        </p:nvSpPr>
        <p:spPr>
          <a:xfrm>
            <a:off x="2391008" y="5349231"/>
            <a:ext cx="584407" cy="36004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/>
              <a:t>10</a:t>
            </a:r>
            <a:endParaRPr lang="en-CA" sz="1400" dirty="0"/>
          </a:p>
        </p:txBody>
      </p:sp>
      <p:cxnSp>
        <p:nvCxnSpPr>
          <p:cNvPr id="204" name="Connecteur : en angle 203">
            <a:extLst>
              <a:ext uri="{FF2B5EF4-FFF2-40B4-BE49-F238E27FC236}">
                <a16:creationId xmlns:a16="http://schemas.microsoft.com/office/drawing/2014/main" id="{5951B76D-18E7-BBE7-35C3-8B75C6D5ADC9}"/>
              </a:ext>
            </a:extLst>
          </p:cNvPr>
          <p:cNvCxnSpPr>
            <a:cxnSpLocks/>
            <a:endCxn id="201" idx="3"/>
          </p:cNvCxnSpPr>
          <p:nvPr/>
        </p:nvCxnSpPr>
        <p:spPr>
          <a:xfrm>
            <a:off x="1605993" y="5218714"/>
            <a:ext cx="1949708" cy="348528"/>
          </a:xfrm>
          <a:prstGeom prst="bentConnector2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655C2350-D1AC-77A6-7005-7F6BB39CD941}"/>
              </a:ext>
            </a:extLst>
          </p:cNvPr>
          <p:cNvCxnSpPr>
            <a:cxnSpLocks/>
          </p:cNvCxnSpPr>
          <p:nvPr/>
        </p:nvCxnSpPr>
        <p:spPr>
          <a:xfrm flipV="1">
            <a:off x="1605993" y="4935924"/>
            <a:ext cx="0" cy="282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173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44444E-6 L 0.09349 4.44444E-6 C 0.13542 4.44444E-6 0.18711 0.07569 0.18711 0.1375 L 0.18711 0.275 " pathEditMode="relative" rAng="0" ptsTypes="AAAA">
                                      <p:cBhvr>
                                        <p:cTn id="50" dur="1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9" y="1375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3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0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0 L 0.11159 0 C 0.16146 0 0.22344 0.09329 0.22344 0.16944 L 0.22344 0.33912 " pathEditMode="relative" rAng="0" ptsTypes="AAAA">
                                      <p:cBhvr>
                                        <p:cTn id="100" dur="1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16944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xit" presetSubtype="32" fill="hold" grpId="2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6" grpId="0" animBg="1"/>
      <p:bldP spid="11" grpId="0" animBg="1"/>
      <p:bldP spid="26" grpId="0" animBg="1"/>
      <p:bldP spid="27" grpId="0" animBg="1"/>
      <p:bldP spid="46" grpId="0" animBg="1"/>
      <p:bldP spid="57" grpId="0" animBg="1"/>
      <p:bldP spid="58" grpId="0" animBg="1"/>
      <p:bldP spid="65" grpId="0" animBg="1"/>
      <p:bldP spid="66" grpId="0" animBg="1"/>
      <p:bldP spid="68" grpId="0" animBg="1"/>
      <p:bldP spid="73" grpId="0" animBg="1"/>
      <p:bldP spid="74" grpId="0" animBg="1"/>
      <p:bldP spid="76" grpId="0" animBg="1"/>
      <p:bldP spid="85" grpId="0" animBg="1"/>
      <p:bldP spid="86" grpId="1" animBg="1"/>
      <p:bldP spid="86" grpId="2" animBg="1"/>
      <p:bldP spid="86" grpId="3" animBg="1"/>
      <p:bldP spid="102" grpId="0" animBg="1"/>
      <p:bldP spid="113" grpId="0" animBg="1"/>
      <p:bldP spid="116" grpId="0" animBg="1"/>
      <p:bldP spid="150" grpId="0" animBg="1"/>
      <p:bldP spid="151" grpId="0" animBg="1"/>
      <p:bldP spid="196" grpId="0" animBg="1"/>
      <p:bldP spid="197" grpId="0" animBg="1"/>
      <p:bldP spid="201" grpId="0" animBg="1"/>
      <p:bldP spid="20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3FC0D-6A8C-ACB9-199A-CB979AEC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6" y="154198"/>
            <a:ext cx="11326784" cy="1770855"/>
          </a:xfrm>
        </p:spPr>
        <p:txBody>
          <a:bodyPr anchor="t">
            <a:normAutofit/>
          </a:bodyPr>
          <a:lstStyle/>
          <a:p>
            <a:r>
              <a:rPr lang="fr-CA" sz="5500" dirty="0"/>
              <a:t>Fonctionnement Général</a:t>
            </a:r>
            <a:br>
              <a:rPr lang="fr-CA" sz="5500" dirty="0"/>
            </a:br>
            <a:r>
              <a:rPr lang="fr-CA" sz="2000" dirty="0"/>
              <a:t>Schéma de principe</a:t>
            </a:r>
            <a:endParaRPr lang="en-CA" sz="2000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7B72E8F3-8153-7ED5-F34C-D0A7B84F3C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803"/>
          <a:stretch>
            <a:fillRect/>
          </a:stretch>
        </p:blipFill>
        <p:spPr>
          <a:xfrm>
            <a:off x="27490" y="1556792"/>
            <a:ext cx="6948379" cy="4642954"/>
          </a:xfrm>
          <a:prstGeom prst="rect">
            <a:avLst/>
          </a:prstGeom>
          <a:noFill/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6547ACF-4A2E-2DB4-FA6F-98B6AD02FCC6}"/>
              </a:ext>
            </a:extLst>
          </p:cNvPr>
          <p:cNvSpPr txBox="1"/>
          <p:nvPr/>
        </p:nvSpPr>
        <p:spPr>
          <a:xfrm>
            <a:off x="7320653" y="2348880"/>
            <a:ext cx="6191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u="sng" dirty="0">
                <a:solidFill>
                  <a:schemeClr val="accent1"/>
                </a:solidFill>
              </a:rPr>
              <a:t>Communication importante</a:t>
            </a:r>
            <a:endParaRPr lang="en-CA" sz="2400" u="sng" dirty="0">
              <a:solidFill>
                <a:schemeClr val="accent1"/>
              </a:solidFill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46846B05-FD3A-4108-421F-83B84352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20915"/>
              </p:ext>
            </p:extLst>
          </p:nvPr>
        </p:nvGraphicFramePr>
        <p:xfrm>
          <a:off x="7088006" y="2801690"/>
          <a:ext cx="5103994" cy="4047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997">
                  <a:extLst>
                    <a:ext uri="{9D8B030D-6E8A-4147-A177-3AD203B41FA5}">
                      <a16:colId xmlns:a16="http://schemas.microsoft.com/office/drawing/2014/main" val="3288739"/>
                    </a:ext>
                  </a:extLst>
                </a:gridCol>
                <a:gridCol w="2551997">
                  <a:extLst>
                    <a:ext uri="{9D8B030D-6E8A-4147-A177-3AD203B41FA5}">
                      <a16:colId xmlns:a16="http://schemas.microsoft.com/office/drawing/2014/main" val="259908170"/>
                    </a:ext>
                  </a:extLst>
                </a:gridCol>
              </a:tblGrid>
              <a:tr h="679631">
                <a:tc>
                  <a:txBody>
                    <a:bodyPr/>
                    <a:lstStyle/>
                    <a:p>
                      <a:r>
                        <a:rPr lang="fr-CA" dirty="0"/>
                        <a:t>Objet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Méthode de communication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04772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Caméra</a:t>
                      </a:r>
                    </a:p>
                    <a:p>
                      <a:r>
                        <a:rPr lang="fr-CA" sz="1200" dirty="0" err="1"/>
                        <a:t>Arducam</a:t>
                      </a:r>
                      <a:r>
                        <a:rPr lang="fr-CA" sz="1200" dirty="0"/>
                        <a:t> Mega B0437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SPI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82350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Serveur</a:t>
                      </a:r>
                    </a:p>
                    <a:p>
                      <a:r>
                        <a:rPr lang="fr-CA" sz="1100" dirty="0"/>
                        <a:t>Render.com/api.scryfall.com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HTTP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44341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Servo-moteurs</a:t>
                      </a:r>
                    </a:p>
                    <a:p>
                      <a:r>
                        <a:rPr lang="fr-CA" sz="1100" dirty="0"/>
                        <a:t>FS5103R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PWM (0us – 2500us)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71615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Écran</a:t>
                      </a:r>
                    </a:p>
                    <a:p>
                      <a:r>
                        <a:rPr lang="en-CA" sz="1100" dirty="0"/>
                        <a:t>SM-RVT43ALBNWN00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SPI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481145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LED</a:t>
                      </a:r>
                    </a:p>
                    <a:p>
                      <a:r>
                        <a:rPr lang="en-CA" sz="1100" dirty="0"/>
                        <a:t>4000K</a:t>
                      </a:r>
                      <a:endParaRPr lang="fr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TTL (0V | 6V)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231703"/>
                  </a:ext>
                </a:extLst>
              </a:tr>
              <a:tr h="561304">
                <a:tc>
                  <a:txBody>
                    <a:bodyPr/>
                    <a:lstStyle/>
                    <a:p>
                      <a:r>
                        <a:rPr lang="fr-CA" dirty="0"/>
                        <a:t>Boutons </a:t>
                      </a:r>
                    </a:p>
                    <a:p>
                      <a:r>
                        <a:rPr lang="fr-CA" sz="1100" dirty="0"/>
                        <a:t>Pull-Down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TTL (0V | 3.3V)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07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842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33D62F-6E71-B476-5D4D-8BD1B9E6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anchor="ctr">
            <a:normAutofit/>
          </a:bodyPr>
          <a:lstStyle/>
          <a:p>
            <a:r>
              <a:rPr lang="fr-CA"/>
              <a:t>Interface utilisateur</a:t>
            </a:r>
            <a:endParaRPr lang="en-CA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EC7822D-8651-E510-47D4-D4A12E21BF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188640"/>
            <a:ext cx="8136904" cy="4610913"/>
          </a:xfrm>
          <a:prstGeom prst="rect">
            <a:avLst/>
          </a:prstGeom>
          <a:noFill/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751A481-518D-F94D-8252-4530DFEA3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3" y="188639"/>
            <a:ext cx="8136903" cy="461091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ABECF69-85B5-D9AF-C479-132A7078A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78" y="180338"/>
            <a:ext cx="8166199" cy="462751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B660274-9D79-CA76-D721-6283D10E8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77" y="180337"/>
            <a:ext cx="8166199" cy="462751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71C198B-9B08-C270-996C-F0AE0E214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50" y="180336"/>
            <a:ext cx="8166198" cy="462751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B6E8760-0124-BDDE-7613-9904FA7F89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00" y="180333"/>
            <a:ext cx="8166198" cy="462751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DEE675E-96FC-8B63-2FAE-AA8E670B9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57" y="188633"/>
            <a:ext cx="8156795" cy="462218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5E2B8E6-BF1E-B70D-F50E-8118749E0D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925" y="177360"/>
            <a:ext cx="8186087" cy="463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08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E7C787-532C-970A-A0CB-D05E9DABD813}"/>
              </a:ext>
            </a:extLst>
          </p:cNvPr>
          <p:cNvSpPr/>
          <p:nvPr/>
        </p:nvSpPr>
        <p:spPr>
          <a:xfrm>
            <a:off x="-96688" y="-26248"/>
            <a:ext cx="12601400" cy="152411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A6149E-5EE9-376B-4DD5-EB8831DA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424546"/>
            <a:ext cx="10706100" cy="67490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Principes utilisés</a:t>
            </a:r>
            <a:endParaRPr lang="en-CA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EFA084-D72C-75DF-F9C8-98F099CE3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>
            <a:normAutofit/>
          </a:bodyPr>
          <a:lstStyle/>
          <a:p>
            <a:r>
              <a:rPr lang="en-US" sz="2400" dirty="0"/>
              <a:t>“Serial Peripheral Interface”</a:t>
            </a:r>
          </a:p>
          <a:p>
            <a:r>
              <a:rPr lang="en-US" sz="2400" dirty="0"/>
              <a:t>Protocol de communication</a:t>
            </a:r>
          </a:p>
          <a:p>
            <a:r>
              <a:rPr lang="en-US" sz="2400" dirty="0"/>
              <a:t>MOSI ("master out, slave in"), MISO ("master in, slave out"), CS ("chip select") 	     SCLK ("serial clock")</a:t>
            </a:r>
          </a:p>
          <a:p>
            <a:r>
              <a:rPr lang="en-US" sz="2400" dirty="0" err="1"/>
              <a:t>Équilibre</a:t>
            </a:r>
            <a:r>
              <a:rPr lang="en-US" sz="2400" dirty="0"/>
              <a:t> </a:t>
            </a:r>
            <a:r>
              <a:rPr lang="en-US" sz="2400" dirty="0" err="1"/>
              <a:t>simplicité</a:t>
            </a:r>
            <a:r>
              <a:rPr lang="en-US" sz="2400" dirty="0"/>
              <a:t> / Vitesse</a:t>
            </a:r>
          </a:p>
          <a:p>
            <a:r>
              <a:rPr lang="en-US" sz="2400" dirty="0" err="1"/>
              <a:t>Caméra</a:t>
            </a:r>
            <a:r>
              <a:rPr lang="en-US" sz="2400" dirty="0"/>
              <a:t> / </a:t>
            </a:r>
            <a:r>
              <a:rPr lang="en-US" sz="2400" dirty="0" err="1"/>
              <a:t>Écran</a:t>
            </a:r>
            <a:r>
              <a:rPr lang="en-US" sz="2400" dirty="0"/>
              <a:t> </a:t>
            </a:r>
          </a:p>
        </p:txBody>
      </p:sp>
      <p:graphicFrame>
        <p:nvGraphicFramePr>
          <p:cNvPr id="7" name="ZoneTexte 2">
            <a:extLst>
              <a:ext uri="{FF2B5EF4-FFF2-40B4-BE49-F238E27FC236}">
                <a16:creationId xmlns:a16="http://schemas.microsoft.com/office/drawing/2014/main" id="{D4856189-D892-67E7-B4B0-7C7F1FB6FA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4737063"/>
              </p:ext>
            </p:extLst>
          </p:nvPr>
        </p:nvGraphicFramePr>
        <p:xfrm>
          <a:off x="6394099" y="1802352"/>
          <a:ext cx="5070021" cy="4293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2B852DA-11B3-ADCA-A4D6-09AE58219A99}"/>
              </a:ext>
            </a:extLst>
          </p:cNvPr>
          <p:cNvSpPr txBox="1">
            <a:spLocks/>
          </p:cNvSpPr>
          <p:nvPr/>
        </p:nvSpPr>
        <p:spPr>
          <a:xfrm>
            <a:off x="762000" y="1802352"/>
            <a:ext cx="5070020" cy="42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8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“Pulse-Width Modulation”</a:t>
            </a:r>
          </a:p>
          <a:p>
            <a:r>
              <a:rPr lang="en-US" sz="2400" dirty="0"/>
              <a:t>Signal </a:t>
            </a:r>
            <a:r>
              <a:rPr lang="en-US" sz="2400" dirty="0" err="1"/>
              <a:t>Analogique</a:t>
            </a:r>
            <a:endParaRPr lang="en-US" sz="2400" dirty="0"/>
          </a:p>
          <a:p>
            <a:r>
              <a:rPr lang="en-US" sz="2400" dirty="0" err="1"/>
              <a:t>Période</a:t>
            </a:r>
            <a:r>
              <a:rPr lang="en-US" sz="2400" dirty="0"/>
              <a:t> 			        Duty Cycle</a:t>
            </a:r>
          </a:p>
          <a:p>
            <a:r>
              <a:rPr lang="en-US" sz="2400" dirty="0"/>
              <a:t>Servo-</a:t>
            </a:r>
            <a:r>
              <a:rPr lang="en-US" sz="2400" dirty="0" err="1"/>
              <a:t>Moteurs</a:t>
            </a: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1264D0-0111-1353-8BF0-775FD33481F5}"/>
              </a:ext>
            </a:extLst>
          </p:cNvPr>
          <p:cNvSpPr txBox="1">
            <a:spLocks/>
          </p:cNvSpPr>
          <p:nvPr/>
        </p:nvSpPr>
        <p:spPr>
          <a:xfrm>
            <a:off x="762000" y="1802352"/>
            <a:ext cx="5328592" cy="42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8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“</a:t>
            </a:r>
            <a:r>
              <a:rPr lang="en-CA" sz="2400" dirty="0"/>
              <a:t>Hypertext Transfer Protocol</a:t>
            </a:r>
            <a:r>
              <a:rPr lang="en-US" sz="2400" dirty="0"/>
              <a:t>”</a:t>
            </a:r>
          </a:p>
          <a:p>
            <a:r>
              <a:rPr lang="en-US" sz="2400" dirty="0"/>
              <a:t>Protocol de communication</a:t>
            </a:r>
          </a:p>
          <a:p>
            <a:r>
              <a:rPr lang="en-US" sz="2400" dirty="0"/>
              <a:t>Client –</a:t>
            </a:r>
            <a:r>
              <a:rPr lang="en-CA" sz="2400" dirty="0"/>
              <a:t>&gt; </a:t>
            </a:r>
            <a:r>
              <a:rPr lang="en-CA" sz="2400" dirty="0" err="1"/>
              <a:t>Serveur</a:t>
            </a:r>
            <a:endParaRPr lang="en-US" sz="2400" dirty="0"/>
          </a:p>
          <a:p>
            <a:r>
              <a:rPr lang="en-US" sz="2400" dirty="0" err="1"/>
              <a:t>Transfert</a:t>
            </a:r>
            <a:r>
              <a:rPr lang="en-US" sz="2400" dirty="0"/>
              <a:t> de données (web) [images/ </a:t>
            </a:r>
            <a:r>
              <a:rPr lang="en-US" sz="2400" dirty="0" err="1"/>
              <a:t>vidéos</a:t>
            </a:r>
            <a:r>
              <a:rPr lang="en-US" sz="2400" dirty="0"/>
              <a:t> / </a:t>
            </a:r>
            <a:r>
              <a:rPr lang="en-US" sz="2400" dirty="0" err="1"/>
              <a:t>textes</a:t>
            </a:r>
            <a:r>
              <a:rPr lang="en-US" sz="2400" dirty="0"/>
              <a:t>/ scripts</a:t>
            </a:r>
            <a:r>
              <a:rPr lang="fr-CA" sz="2400" dirty="0"/>
              <a:t>]</a:t>
            </a:r>
          </a:p>
          <a:p>
            <a:r>
              <a:rPr lang="fr-CA" sz="2400" dirty="0"/>
              <a:t>Render.com + api.scryfall.com</a:t>
            </a:r>
            <a:endParaRPr lang="en-US" sz="2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AC1141A-9AAB-193A-DE26-A576FFB8155F}"/>
              </a:ext>
            </a:extLst>
          </p:cNvPr>
          <p:cNvSpPr txBox="1">
            <a:spLocks/>
          </p:cNvSpPr>
          <p:nvPr/>
        </p:nvSpPr>
        <p:spPr>
          <a:xfrm>
            <a:off x="760605" y="1802352"/>
            <a:ext cx="5070020" cy="42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8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“</a:t>
            </a:r>
            <a:r>
              <a:rPr lang="en-CA" sz="2400" dirty="0"/>
              <a:t>Optical Character Recognition</a:t>
            </a:r>
            <a:r>
              <a:rPr lang="en-US" sz="2400" dirty="0"/>
              <a:t>”/   </a:t>
            </a:r>
            <a:r>
              <a:rPr lang="en-CA" sz="2400" dirty="0"/>
              <a:t>“Reconnaissance Optique de </a:t>
            </a:r>
            <a:r>
              <a:rPr lang="en-CA" sz="2400" dirty="0" err="1"/>
              <a:t>Caractères</a:t>
            </a:r>
            <a:r>
              <a:rPr lang="en-CA" sz="2400" dirty="0"/>
              <a:t>”</a:t>
            </a:r>
            <a:endParaRPr lang="en-US" sz="2400" dirty="0"/>
          </a:p>
          <a:p>
            <a:r>
              <a:rPr lang="fr-FR" sz="2400" dirty="0"/>
              <a:t>Extraction de texte à partir d'une image statique</a:t>
            </a:r>
          </a:p>
          <a:p>
            <a:r>
              <a:rPr lang="en-US" sz="2400" dirty="0"/>
              <a:t>Tesseract</a:t>
            </a:r>
          </a:p>
        </p:txBody>
      </p:sp>
    </p:spTree>
    <p:extLst>
      <p:ext uri="{BB962C8B-B14F-4D97-AF65-F5344CB8AC3E}">
        <p14:creationId xmlns:p14="http://schemas.microsoft.com/office/powerpoint/2010/main" val="1113344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4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4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xit" presetSubtype="4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4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" presetClass="exit" presetSubtype="4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2" grpId="1" build="p"/>
      <p:bldP spid="9" grpId="0" build="allAtOnce"/>
      <p:bldP spid="9" grpId="1" build="p"/>
      <p:bldP spid="10" grpId="0" build="allAtOnce"/>
      <p:bldP spid="10" grpId="1" build="p"/>
      <p:bldP spid="11" grpId="0" build="allAtOnce"/>
      <p:bldP spid="11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1950DEAA-24C4-3C13-8B18-C0CD32D7A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05" y="1457050"/>
            <a:ext cx="7811590" cy="39439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44B478D-291C-EEEB-E695-659E26EB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16632"/>
            <a:ext cx="10698480" cy="828594"/>
          </a:xfrm>
        </p:spPr>
        <p:txBody>
          <a:bodyPr/>
          <a:lstStyle/>
          <a:p>
            <a:r>
              <a:rPr lang="fr-CA" dirty="0"/>
              <a:t>Schéma électrique (PCB PRINCIPAL)</a:t>
            </a:r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7F37B5-D56D-0C71-5611-B255ECDC0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4" y="707049"/>
            <a:ext cx="11736438" cy="20386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C3B4549-813C-4DA8-2612-5ECF707EF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2765793"/>
            <a:ext cx="5934903" cy="39248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D7D26FC-91BE-F777-752B-11D4579ED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765" y="2760524"/>
            <a:ext cx="3839009" cy="38911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7AE7198-21CA-8140-8398-36FAD3EE2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80" y="2348880"/>
            <a:ext cx="11736438" cy="2038635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248367E8-EF4A-21BE-9C56-19AA47109348}"/>
              </a:ext>
            </a:extLst>
          </p:cNvPr>
          <p:cNvSpPr/>
          <p:nvPr/>
        </p:nvSpPr>
        <p:spPr>
          <a:xfrm>
            <a:off x="8080533" y="2357195"/>
            <a:ext cx="2808312" cy="17057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1B2F772-0CF6-2257-C083-9B70289394B0}"/>
              </a:ext>
            </a:extLst>
          </p:cNvPr>
          <p:cNvSpPr/>
          <p:nvPr/>
        </p:nvSpPr>
        <p:spPr>
          <a:xfrm>
            <a:off x="2495600" y="2281603"/>
            <a:ext cx="4393994" cy="185696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9087EA-5998-9FED-4D74-A621D03DB6DC}"/>
              </a:ext>
            </a:extLst>
          </p:cNvPr>
          <p:cNvSpPr txBox="1"/>
          <p:nvPr/>
        </p:nvSpPr>
        <p:spPr>
          <a:xfrm>
            <a:off x="3553539" y="2501659"/>
            <a:ext cx="29183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0" dirty="0">
                <a:solidFill>
                  <a:srgbClr val="C00000"/>
                </a:solidFill>
              </a:rPr>
              <a:t>3.3V</a:t>
            </a:r>
            <a:endParaRPr lang="en-CA" sz="8000" dirty="0">
              <a:solidFill>
                <a:srgbClr val="C0000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8942E35-980E-05F8-501F-FFBB583558EF}"/>
              </a:ext>
            </a:extLst>
          </p:cNvPr>
          <p:cNvSpPr txBox="1"/>
          <p:nvPr/>
        </p:nvSpPr>
        <p:spPr>
          <a:xfrm>
            <a:off x="8688288" y="2580491"/>
            <a:ext cx="29183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0" dirty="0">
                <a:solidFill>
                  <a:srgbClr val="C00000"/>
                </a:solidFill>
              </a:rPr>
              <a:t>6V</a:t>
            </a:r>
            <a:endParaRPr lang="en-CA" sz="8000" dirty="0">
              <a:solidFill>
                <a:srgbClr val="C00000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5D6827E-0385-5308-61F8-73AD4ED41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523" y="676161"/>
            <a:ext cx="9208696" cy="6089861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7D89800D-B59A-AF68-21DB-C0B89593233C}"/>
              </a:ext>
            </a:extLst>
          </p:cNvPr>
          <p:cNvSpPr/>
          <p:nvPr/>
        </p:nvSpPr>
        <p:spPr>
          <a:xfrm>
            <a:off x="1812442" y="831198"/>
            <a:ext cx="3203437" cy="19144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85BB501-75E5-3BD6-4984-6DD892854CB6}"/>
              </a:ext>
            </a:extLst>
          </p:cNvPr>
          <p:cNvSpPr/>
          <p:nvPr/>
        </p:nvSpPr>
        <p:spPr>
          <a:xfrm>
            <a:off x="5765784" y="5710132"/>
            <a:ext cx="1412265" cy="8114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3367006-FE31-4D77-DE12-7EB7B02793B8}"/>
              </a:ext>
            </a:extLst>
          </p:cNvPr>
          <p:cNvSpPr/>
          <p:nvPr/>
        </p:nvSpPr>
        <p:spPr>
          <a:xfrm>
            <a:off x="5079647" y="2032656"/>
            <a:ext cx="1392269" cy="15954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42E899A-8E05-A466-5DFD-9A371417451B}"/>
              </a:ext>
            </a:extLst>
          </p:cNvPr>
          <p:cNvSpPr/>
          <p:nvPr/>
        </p:nvSpPr>
        <p:spPr>
          <a:xfrm>
            <a:off x="1551281" y="2565990"/>
            <a:ext cx="2808312" cy="394784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77B155B-69AA-0DC4-1218-F6763EEBDB5F}"/>
              </a:ext>
            </a:extLst>
          </p:cNvPr>
          <p:cNvSpPr txBox="1"/>
          <p:nvPr/>
        </p:nvSpPr>
        <p:spPr>
          <a:xfrm>
            <a:off x="1543713" y="644664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RESET</a:t>
            </a:r>
            <a:endParaRPr lang="en-CA" sz="2000" dirty="0">
              <a:solidFill>
                <a:srgbClr val="C00000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AABC4D5-9A2B-4BAA-D81B-F6277E660130}"/>
              </a:ext>
            </a:extLst>
          </p:cNvPr>
          <p:cNvSpPr txBox="1"/>
          <p:nvPr/>
        </p:nvSpPr>
        <p:spPr>
          <a:xfrm>
            <a:off x="5479986" y="1615065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Caméra</a:t>
            </a:r>
            <a:endParaRPr lang="en-CA" sz="2000" dirty="0">
              <a:solidFill>
                <a:srgbClr val="C00000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ADE3CB7-BF3D-5DF9-AEFF-25BC10600212}"/>
              </a:ext>
            </a:extLst>
          </p:cNvPr>
          <p:cNvSpPr txBox="1"/>
          <p:nvPr/>
        </p:nvSpPr>
        <p:spPr>
          <a:xfrm>
            <a:off x="6960096" y="6308739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UART</a:t>
            </a:r>
            <a:endParaRPr lang="en-CA" sz="2000" dirty="0">
              <a:solidFill>
                <a:srgbClr val="C00000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3EC8947-C070-1F91-2709-C409FD8E9F29}"/>
              </a:ext>
            </a:extLst>
          </p:cNvPr>
          <p:cNvSpPr txBox="1"/>
          <p:nvPr/>
        </p:nvSpPr>
        <p:spPr>
          <a:xfrm>
            <a:off x="1235572" y="2565990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USB-C</a:t>
            </a:r>
            <a:endParaRPr lang="en-CA" sz="2000" dirty="0">
              <a:solidFill>
                <a:srgbClr val="C00000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922CB26-BD6E-B5A5-7BFA-86D732DBB8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580" y="644664"/>
            <a:ext cx="6117923" cy="6201018"/>
          </a:xfrm>
          <a:prstGeom prst="rect">
            <a:avLst/>
          </a:prstGeom>
        </p:spPr>
      </p:pic>
      <p:sp>
        <p:nvSpPr>
          <p:cNvPr id="28" name="Ellipse 27">
            <a:extLst>
              <a:ext uri="{FF2B5EF4-FFF2-40B4-BE49-F238E27FC236}">
                <a16:creationId xmlns:a16="http://schemas.microsoft.com/office/drawing/2014/main" id="{78CC0A0A-7CC7-7866-9A8C-3EEF7447442D}"/>
              </a:ext>
            </a:extLst>
          </p:cNvPr>
          <p:cNvSpPr/>
          <p:nvPr/>
        </p:nvSpPr>
        <p:spPr>
          <a:xfrm>
            <a:off x="3564421" y="1702067"/>
            <a:ext cx="2837438" cy="158292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B50EEFF-3735-592A-8C23-8ADFC7F3F2E8}"/>
              </a:ext>
            </a:extLst>
          </p:cNvPr>
          <p:cNvSpPr txBox="1"/>
          <p:nvPr/>
        </p:nvSpPr>
        <p:spPr>
          <a:xfrm>
            <a:off x="3150507" y="1564997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ÉCRAN</a:t>
            </a:r>
            <a:endParaRPr lang="en-CA" sz="2000" dirty="0">
              <a:solidFill>
                <a:srgbClr val="C00000"/>
              </a:solidFill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C961EE0-757E-F091-0E7E-949A484BB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192" y="1147867"/>
            <a:ext cx="4823945" cy="4095067"/>
          </a:xfrm>
          <a:prstGeom prst="rect">
            <a:avLst/>
          </a:prstGeom>
        </p:spPr>
      </p:pic>
      <p:sp>
        <p:nvSpPr>
          <p:cNvPr id="33" name="Ellipse 32">
            <a:extLst>
              <a:ext uri="{FF2B5EF4-FFF2-40B4-BE49-F238E27FC236}">
                <a16:creationId xmlns:a16="http://schemas.microsoft.com/office/drawing/2014/main" id="{E2983936-DBBF-5EAB-0120-751C96118C19}"/>
              </a:ext>
            </a:extLst>
          </p:cNvPr>
          <p:cNvSpPr/>
          <p:nvPr/>
        </p:nvSpPr>
        <p:spPr>
          <a:xfrm>
            <a:off x="2844210" y="412376"/>
            <a:ext cx="5556045" cy="123251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E9CD0E7-637F-9D1F-4269-632C28E5153E}"/>
              </a:ext>
            </a:extLst>
          </p:cNvPr>
          <p:cNvSpPr txBox="1"/>
          <p:nvPr/>
        </p:nvSpPr>
        <p:spPr>
          <a:xfrm>
            <a:off x="8007095" y="68453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C00000"/>
                </a:solidFill>
              </a:rPr>
              <a:t>HEADERS MOTEUR</a:t>
            </a:r>
            <a:endParaRPr lang="en-CA" sz="2000" dirty="0">
              <a:solidFill>
                <a:srgbClr val="C00000"/>
              </a:solidFill>
            </a:endParaRP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A28E14D4-798C-3629-D5AD-975DFD9425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01" y="665457"/>
            <a:ext cx="12212001" cy="548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14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/>
      <p:bldP spid="14" grpId="1"/>
      <p:bldP spid="15" grpId="0"/>
      <p:bldP spid="15" grpId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8" grpId="0" animBg="1"/>
      <p:bldP spid="28" grpId="1" animBg="1"/>
      <p:bldP spid="30" grpId="0"/>
      <p:bldP spid="30" grpId="1"/>
      <p:bldP spid="33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A0A21-343B-D4D2-A385-358DFBD9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16632"/>
            <a:ext cx="10698480" cy="828594"/>
          </a:xfrm>
        </p:spPr>
        <p:txBody>
          <a:bodyPr/>
          <a:lstStyle/>
          <a:p>
            <a:r>
              <a:rPr lang="fr-CA" dirty="0"/>
              <a:t>Schéma électrique (Interface utilisateur/ </a:t>
            </a:r>
            <a:r>
              <a:rPr lang="fr-CA" dirty="0" err="1"/>
              <a:t>ÉClairage</a:t>
            </a:r>
            <a:r>
              <a:rPr lang="fr-CA" dirty="0"/>
              <a:t>)</a:t>
            </a:r>
            <a:endParaRPr lang="en-C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C59CBD-EC90-EAC7-C9CE-940D04E57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0" y="530929"/>
            <a:ext cx="2295822" cy="57961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2307BA9-2F8E-C195-FF68-5C731C3B3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886" y="520485"/>
            <a:ext cx="2617320" cy="57961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EA544F5-66F6-2984-6A6B-84147B8DE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576" y="1099812"/>
            <a:ext cx="6125430" cy="46583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B8865D6-1361-C0AF-8973-D4F6E0B02B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1484784"/>
            <a:ext cx="6511083" cy="370841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3B3C401-38FD-56A5-3F35-9C8CF65FF2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4" y="820256"/>
            <a:ext cx="6125431" cy="491620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F99F3BD-FB94-8959-89CA-58ECE7954C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891" y="817803"/>
            <a:ext cx="5496909" cy="491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32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69978-E8D2-9C2F-D8E5-8B76E3C13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18075"/>
            <a:ext cx="3834793" cy="13667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CA" dirty="0"/>
              <a:t>Principe du programme </a:t>
            </a:r>
            <a:br>
              <a:rPr lang="fr-CA" dirty="0"/>
            </a:br>
            <a:r>
              <a:rPr lang="fr-CA" sz="1600" dirty="0"/>
              <a:t>Esp #1 (Contrôleur caméra)</a:t>
            </a:r>
            <a:endParaRPr lang="en-CA" sz="16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2C686D8-9D89-6552-9165-D1A9137A4862}"/>
              </a:ext>
            </a:extLst>
          </p:cNvPr>
          <p:cNvSpPr/>
          <p:nvPr/>
        </p:nvSpPr>
        <p:spPr>
          <a:xfrm>
            <a:off x="7796748" y="2354807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Démarre</a:t>
            </a:r>
            <a:r>
              <a:rPr lang="en-US" sz="1600" dirty="0">
                <a:solidFill>
                  <a:schemeClr val="tx1"/>
                </a:solidFill>
              </a:rPr>
              <a:t> le Serial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EE7819-212F-C72F-FA53-19106A81B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30" r="10645" b="-1"/>
          <a:stretch>
            <a:fillRect/>
          </a:stretch>
        </p:blipFill>
        <p:spPr>
          <a:xfrm>
            <a:off x="20" y="10"/>
            <a:ext cx="7274382" cy="609599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noFill/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7160ED4A-8A63-EAAF-C764-DF3CAACAD75F}"/>
              </a:ext>
            </a:extLst>
          </p:cNvPr>
          <p:cNvSpPr/>
          <p:nvPr/>
        </p:nvSpPr>
        <p:spPr>
          <a:xfrm>
            <a:off x="11504681" y="2275190"/>
            <a:ext cx="306069" cy="2743913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 : coins arrondis 4">
            <a:extLst>
              <a:ext uri="{FF2B5EF4-FFF2-40B4-BE49-F238E27FC236}">
                <a16:creationId xmlns:a16="http://schemas.microsoft.com/office/drawing/2014/main" id="{DACDCBF4-D151-DEE8-3A9B-FEBFF1E44A08}"/>
              </a:ext>
            </a:extLst>
          </p:cNvPr>
          <p:cNvSpPr/>
          <p:nvPr/>
        </p:nvSpPr>
        <p:spPr>
          <a:xfrm>
            <a:off x="7796748" y="3290911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Connection WIFI</a:t>
            </a:r>
          </a:p>
        </p:txBody>
      </p:sp>
      <p:sp>
        <p:nvSpPr>
          <p:cNvPr id="9" name="Rectangle : coins arrondis 4">
            <a:extLst>
              <a:ext uri="{FF2B5EF4-FFF2-40B4-BE49-F238E27FC236}">
                <a16:creationId xmlns:a16="http://schemas.microsoft.com/office/drawing/2014/main" id="{D45D9BD4-7333-99A8-86AD-DB3BAE299BB8}"/>
              </a:ext>
            </a:extLst>
          </p:cNvPr>
          <p:cNvSpPr/>
          <p:nvPr/>
        </p:nvSpPr>
        <p:spPr>
          <a:xfrm>
            <a:off x="7796748" y="4227015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Initialization de la </a:t>
            </a:r>
            <a:r>
              <a:rPr lang="en-US" sz="1600" dirty="0" err="1">
                <a:solidFill>
                  <a:schemeClr val="tx1"/>
                </a:solidFill>
              </a:rPr>
              <a:t>caméra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262076DA-1D78-BFC6-F888-91694450D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6" b="2376"/>
          <a:stretch/>
        </p:blipFill>
        <p:spPr>
          <a:xfrm>
            <a:off x="20" y="0"/>
            <a:ext cx="7274382" cy="609599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noFill/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5E367C9-BD8C-1A69-FEE1-B24CF697B76B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999656" y="943501"/>
            <a:ext cx="4797092" cy="1735342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F2C73A8-2C5E-82A2-1BC0-F16B25268718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783632" y="2630985"/>
            <a:ext cx="5013116" cy="983962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F0FB2E5-6FD9-535F-C6EE-04A9AA55770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991544" y="4551051"/>
            <a:ext cx="5805204" cy="758767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5AB0D56E-2494-D5DA-408B-E7EE32DBB8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79" y="2955021"/>
            <a:ext cx="3405330" cy="37662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541C4DA9-80C8-F7B9-6D68-B38373B157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" b="2401"/>
          <a:stretch/>
        </p:blipFill>
        <p:spPr>
          <a:xfrm>
            <a:off x="3508" y="-10"/>
            <a:ext cx="7274382" cy="609599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noFill/>
        </p:spPr>
      </p:pic>
      <p:sp>
        <p:nvSpPr>
          <p:cNvPr id="24" name="Rectangle : coins arrondis 4">
            <a:extLst>
              <a:ext uri="{FF2B5EF4-FFF2-40B4-BE49-F238E27FC236}">
                <a16:creationId xmlns:a16="http://schemas.microsoft.com/office/drawing/2014/main" id="{7FDD9C05-8294-03A1-6D0D-6DCFFE7C75F9}"/>
              </a:ext>
            </a:extLst>
          </p:cNvPr>
          <p:cNvSpPr/>
          <p:nvPr/>
        </p:nvSpPr>
        <p:spPr>
          <a:xfrm>
            <a:off x="7796748" y="2354807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On </a:t>
            </a:r>
            <a:r>
              <a:rPr lang="en-US" sz="1600" dirty="0" err="1">
                <a:solidFill>
                  <a:schemeClr val="tx1"/>
                </a:solidFill>
              </a:rPr>
              <a:t>prend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une</a:t>
            </a:r>
            <a:r>
              <a:rPr lang="en-US" sz="1600" dirty="0">
                <a:solidFill>
                  <a:schemeClr val="tx1"/>
                </a:solidFill>
              </a:rPr>
              <a:t> photo</a:t>
            </a:r>
          </a:p>
        </p:txBody>
      </p:sp>
      <p:sp>
        <p:nvSpPr>
          <p:cNvPr id="25" name="Rectangle : coins arrondis 4">
            <a:extLst>
              <a:ext uri="{FF2B5EF4-FFF2-40B4-BE49-F238E27FC236}">
                <a16:creationId xmlns:a16="http://schemas.microsoft.com/office/drawing/2014/main" id="{A1920367-2063-834B-0BE5-D5F3D8D741CA}"/>
              </a:ext>
            </a:extLst>
          </p:cNvPr>
          <p:cNvSpPr/>
          <p:nvPr/>
        </p:nvSpPr>
        <p:spPr>
          <a:xfrm>
            <a:off x="7796748" y="3290911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On </a:t>
            </a:r>
            <a:r>
              <a:rPr lang="en-US" sz="1600" dirty="0" err="1">
                <a:solidFill>
                  <a:schemeClr val="tx1"/>
                </a:solidFill>
              </a:rPr>
              <a:t>envoie</a:t>
            </a:r>
            <a:r>
              <a:rPr lang="en-US" sz="1600" dirty="0">
                <a:solidFill>
                  <a:schemeClr val="tx1"/>
                </a:solidFill>
              </a:rPr>
              <a:t> au </a:t>
            </a:r>
            <a:r>
              <a:rPr lang="en-US" sz="1600" dirty="0" err="1">
                <a:solidFill>
                  <a:schemeClr val="tx1"/>
                </a:solidFill>
              </a:rPr>
              <a:t>serveur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Accolade fermante 25">
            <a:extLst>
              <a:ext uri="{FF2B5EF4-FFF2-40B4-BE49-F238E27FC236}">
                <a16:creationId xmlns:a16="http://schemas.microsoft.com/office/drawing/2014/main" id="{DD7477A6-BEE1-C256-C2F2-BE80F4AA0A06}"/>
              </a:ext>
            </a:extLst>
          </p:cNvPr>
          <p:cNvSpPr/>
          <p:nvPr/>
        </p:nvSpPr>
        <p:spPr>
          <a:xfrm>
            <a:off x="11501193" y="2275191"/>
            <a:ext cx="306069" cy="1735342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AB9D842-642F-CEBF-E7A4-2465522D7756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197538" y="1694881"/>
            <a:ext cx="3599210" cy="983962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3FB4E2B9-3374-0F4E-AD4B-8FCEEDC63E16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023992" y="3140968"/>
            <a:ext cx="1772756" cy="473979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Nuage 32">
            <a:extLst>
              <a:ext uri="{FF2B5EF4-FFF2-40B4-BE49-F238E27FC236}">
                <a16:creationId xmlns:a16="http://schemas.microsoft.com/office/drawing/2014/main" id="{E14F7E20-8A1F-3554-D636-669EAE2AB51F}"/>
              </a:ext>
            </a:extLst>
          </p:cNvPr>
          <p:cNvSpPr/>
          <p:nvPr/>
        </p:nvSpPr>
        <p:spPr>
          <a:xfrm>
            <a:off x="6618754" y="4152710"/>
            <a:ext cx="3758078" cy="2128620"/>
          </a:xfrm>
          <a:prstGeom prst="cloud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Les données JPEG sont envoyées en un seul appel en utilisant la mémoire vive</a:t>
            </a:r>
            <a:endParaRPr lang="en-CA" dirty="0"/>
          </a:p>
        </p:txBody>
      </p:sp>
      <p:sp>
        <p:nvSpPr>
          <p:cNvPr id="34" name="Nuage 33">
            <a:extLst>
              <a:ext uri="{FF2B5EF4-FFF2-40B4-BE49-F238E27FC236}">
                <a16:creationId xmlns:a16="http://schemas.microsoft.com/office/drawing/2014/main" id="{EA42A305-502A-0B9E-3FAC-CA9E68251252}"/>
              </a:ext>
            </a:extLst>
          </p:cNvPr>
          <p:cNvSpPr/>
          <p:nvPr/>
        </p:nvSpPr>
        <p:spPr>
          <a:xfrm>
            <a:off x="7398654" y="3172268"/>
            <a:ext cx="3953930" cy="2054141"/>
          </a:xfrm>
          <a:prstGeom prst="cloud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CA" dirty="0"/>
              <a:t>Qualité de l’image: QVGA (320 x 240)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CA" dirty="0"/>
              <a:t>Image stocké dans un buffer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044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33" grpId="0" animBg="1"/>
      <p:bldP spid="33" grpId="1" animBg="1"/>
      <p:bldP spid="34" grpId="0" animBg="1"/>
      <p:bldP spid="3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>
            <a:extLst>
              <a:ext uri="{FF2B5EF4-FFF2-40B4-BE49-F238E27FC236}">
                <a16:creationId xmlns:a16="http://schemas.microsoft.com/office/drawing/2014/main" id="{D8E39AAE-731E-065B-B751-77C37AC1F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83" y="-15240"/>
            <a:ext cx="5940337" cy="683505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7485274-6AA5-0E4D-8813-EFEED430C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44624"/>
            <a:ext cx="3834793" cy="1620539"/>
          </a:xfrm>
        </p:spPr>
        <p:txBody>
          <a:bodyPr/>
          <a:lstStyle/>
          <a:p>
            <a:r>
              <a:rPr lang="fr-CA" dirty="0"/>
              <a:t>Principe du programme </a:t>
            </a:r>
            <a:br>
              <a:rPr lang="fr-CA" dirty="0"/>
            </a:br>
            <a:r>
              <a:rPr lang="fr-CA" sz="1600" dirty="0"/>
              <a:t>Esp #2 (Contrôleur moteurs/ Écran)</a:t>
            </a:r>
            <a:endParaRPr lang="en-CA" sz="1600" dirty="0"/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1BA0274E-E994-C0C5-419E-C29876F6CE2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4" b="-44"/>
          <a:stretch>
            <a:fillRect/>
          </a:stretch>
        </p:blipFill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4">
              <a:alphaModFix amt="75000"/>
            </a:blip>
            <a:srcRect/>
            <a:stretch>
              <a:fillRect/>
            </a:stretch>
          </a:blipFill>
        </p:spPr>
      </p:pic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D8C0E905-7AAF-F3C4-31F7-81F82BA663A1}"/>
              </a:ext>
            </a:extLst>
          </p:cNvPr>
          <p:cNvSpPr/>
          <p:nvPr/>
        </p:nvSpPr>
        <p:spPr>
          <a:xfrm>
            <a:off x="6757043" y="3501008"/>
            <a:ext cx="792088" cy="2304256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Rectangle : coins arrondis 4">
            <a:extLst>
              <a:ext uri="{FF2B5EF4-FFF2-40B4-BE49-F238E27FC236}">
                <a16:creationId xmlns:a16="http://schemas.microsoft.com/office/drawing/2014/main" id="{D8857A23-54D8-328E-EB5D-B722D0D2317B}"/>
              </a:ext>
            </a:extLst>
          </p:cNvPr>
          <p:cNvSpPr/>
          <p:nvPr/>
        </p:nvSpPr>
        <p:spPr>
          <a:xfrm>
            <a:off x="7608168" y="4329100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Contrôle</a:t>
            </a:r>
            <a:r>
              <a:rPr lang="en-US" sz="1600" dirty="0">
                <a:solidFill>
                  <a:schemeClr val="tx1"/>
                </a:solidFill>
              </a:rPr>
              <a:t> Servos</a:t>
            </a:r>
          </a:p>
        </p:txBody>
      </p:sp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7C6A2C12-F60B-966F-240A-7AA297FCD317}"/>
              </a:ext>
            </a:extLst>
          </p:cNvPr>
          <p:cNvSpPr/>
          <p:nvPr/>
        </p:nvSpPr>
        <p:spPr>
          <a:xfrm>
            <a:off x="2351584" y="1772816"/>
            <a:ext cx="360040" cy="1152128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 : coins arrondis 4">
            <a:extLst>
              <a:ext uri="{FF2B5EF4-FFF2-40B4-BE49-F238E27FC236}">
                <a16:creationId xmlns:a16="http://schemas.microsoft.com/office/drawing/2014/main" id="{AA1E31E0-2242-4EF8-06E2-11877C4ECCD3}"/>
              </a:ext>
            </a:extLst>
          </p:cNvPr>
          <p:cNvSpPr/>
          <p:nvPr/>
        </p:nvSpPr>
        <p:spPr>
          <a:xfrm>
            <a:off x="2711624" y="2024844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Contrôle</a:t>
            </a:r>
            <a:r>
              <a:rPr lang="en-US" sz="1600" dirty="0">
                <a:solidFill>
                  <a:schemeClr val="tx1"/>
                </a:solidFill>
              </a:rPr>
              <a:t> Modes</a:t>
            </a:r>
          </a:p>
        </p:txBody>
      </p: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9B6E8786-DF2A-6739-3872-5250FE7A578B}"/>
              </a:ext>
            </a:extLst>
          </p:cNvPr>
          <p:cNvSpPr/>
          <p:nvPr/>
        </p:nvSpPr>
        <p:spPr>
          <a:xfrm>
            <a:off x="2927648" y="0"/>
            <a:ext cx="360040" cy="476672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 : coins arrondis 4">
            <a:extLst>
              <a:ext uri="{FF2B5EF4-FFF2-40B4-BE49-F238E27FC236}">
                <a16:creationId xmlns:a16="http://schemas.microsoft.com/office/drawing/2014/main" id="{07F62007-01E9-3A9C-1521-947F4D5EEF0D}"/>
              </a:ext>
            </a:extLst>
          </p:cNvPr>
          <p:cNvSpPr/>
          <p:nvPr/>
        </p:nvSpPr>
        <p:spPr>
          <a:xfrm>
            <a:off x="3287688" y="11472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Réception</a:t>
            </a:r>
            <a:r>
              <a:rPr lang="en-US" sz="1600" dirty="0">
                <a:solidFill>
                  <a:schemeClr val="tx1"/>
                </a:solidFill>
              </a:rPr>
              <a:t>/ Normalization des Types </a:t>
            </a:r>
            <a:r>
              <a:rPr lang="en-US" sz="1600" dirty="0" err="1">
                <a:solidFill>
                  <a:schemeClr val="tx1"/>
                </a:solidFill>
              </a:rPr>
              <a:t>Reçus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209564C-4F2A-846F-778B-217C0A9E6F61}"/>
              </a:ext>
            </a:extLst>
          </p:cNvPr>
          <p:cNvCxnSpPr/>
          <p:nvPr/>
        </p:nvCxnSpPr>
        <p:spPr>
          <a:xfrm>
            <a:off x="551384" y="895970"/>
            <a:ext cx="1584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E4A76FD-1FF6-00AB-1412-14CEAFC9B876}"/>
              </a:ext>
            </a:extLst>
          </p:cNvPr>
          <p:cNvCxnSpPr>
            <a:cxnSpLocks/>
          </p:cNvCxnSpPr>
          <p:nvPr/>
        </p:nvCxnSpPr>
        <p:spPr>
          <a:xfrm>
            <a:off x="551384" y="1556792"/>
            <a:ext cx="23762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907ECD2-6B3C-2A3E-C51A-7EF47ED7CB37}"/>
              </a:ext>
            </a:extLst>
          </p:cNvPr>
          <p:cNvCxnSpPr>
            <a:cxnSpLocks/>
          </p:cNvCxnSpPr>
          <p:nvPr/>
        </p:nvCxnSpPr>
        <p:spPr>
          <a:xfrm>
            <a:off x="551384" y="1340768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532F177-6422-A9E7-8DC7-3C59C7B35A85}"/>
              </a:ext>
            </a:extLst>
          </p:cNvPr>
          <p:cNvCxnSpPr>
            <a:cxnSpLocks/>
          </p:cNvCxnSpPr>
          <p:nvPr/>
        </p:nvCxnSpPr>
        <p:spPr>
          <a:xfrm>
            <a:off x="559636" y="1124744"/>
            <a:ext cx="11798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706B40E-19B3-CC1D-7CAC-B6521668C890}"/>
              </a:ext>
            </a:extLst>
          </p:cNvPr>
          <p:cNvCxnSpPr>
            <a:cxnSpLocks/>
          </p:cNvCxnSpPr>
          <p:nvPr/>
        </p:nvCxnSpPr>
        <p:spPr>
          <a:xfrm>
            <a:off x="443372" y="3356992"/>
            <a:ext cx="972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DC2D7D8-5349-E2BA-2C98-B0DA035B1819}"/>
              </a:ext>
            </a:extLst>
          </p:cNvPr>
          <p:cNvCxnSpPr>
            <a:cxnSpLocks/>
          </p:cNvCxnSpPr>
          <p:nvPr/>
        </p:nvCxnSpPr>
        <p:spPr>
          <a:xfrm>
            <a:off x="551384" y="3573016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E52A191D-5D07-BE3A-1F71-84969EEDAB73}"/>
              </a:ext>
            </a:extLst>
          </p:cNvPr>
          <p:cNvCxnSpPr>
            <a:cxnSpLocks/>
          </p:cNvCxnSpPr>
          <p:nvPr/>
        </p:nvCxnSpPr>
        <p:spPr>
          <a:xfrm>
            <a:off x="443372" y="6096000"/>
            <a:ext cx="31938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 : coins arrondis 4">
            <a:extLst>
              <a:ext uri="{FF2B5EF4-FFF2-40B4-BE49-F238E27FC236}">
                <a16:creationId xmlns:a16="http://schemas.microsoft.com/office/drawing/2014/main" id="{140AF49A-DD87-F528-1812-6C7EE35DEEAC}"/>
              </a:ext>
            </a:extLst>
          </p:cNvPr>
          <p:cNvSpPr/>
          <p:nvPr/>
        </p:nvSpPr>
        <p:spPr>
          <a:xfrm>
            <a:off x="4484157" y="2886236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Contrôle</a:t>
            </a:r>
            <a:r>
              <a:rPr lang="en-US" sz="1600" dirty="0">
                <a:solidFill>
                  <a:schemeClr val="tx1"/>
                </a:solidFill>
              </a:rPr>
              <a:t> Interface </a:t>
            </a:r>
            <a:r>
              <a:rPr lang="en-US" sz="1600" dirty="0" err="1">
                <a:solidFill>
                  <a:schemeClr val="tx1"/>
                </a:solidFill>
              </a:rPr>
              <a:t>Utilisateur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93D1BCF-11F6-34AC-55C0-E642395A1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" y="-4421"/>
            <a:ext cx="3921383" cy="6862421"/>
          </a:xfrm>
          <a:prstGeom prst="rect">
            <a:avLst/>
          </a:prstGeom>
        </p:spPr>
      </p:pic>
      <p:sp>
        <p:nvSpPr>
          <p:cNvPr id="32" name="Bouton d’action : avant ou précédent 3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B43D7BF-2D7C-45D7-73A1-886059EA91B6}"/>
              </a:ext>
            </a:extLst>
          </p:cNvPr>
          <p:cNvSpPr/>
          <p:nvPr/>
        </p:nvSpPr>
        <p:spPr>
          <a:xfrm>
            <a:off x="7941651" y="218628"/>
            <a:ext cx="3599210" cy="289307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000" dirty="0"/>
              <a:t>MACHINE D’ÉTAT</a:t>
            </a:r>
            <a:endParaRPr lang="en-CA" sz="4000" dirty="0"/>
          </a:p>
        </p:txBody>
      </p:sp>
      <p:sp>
        <p:nvSpPr>
          <p:cNvPr id="33" name="Rectangle : coins arrondis 4">
            <a:extLst>
              <a:ext uri="{FF2B5EF4-FFF2-40B4-BE49-F238E27FC236}">
                <a16:creationId xmlns:a16="http://schemas.microsoft.com/office/drawing/2014/main" id="{DEE19300-03D0-89D1-533F-0182DCA7F9B5}"/>
              </a:ext>
            </a:extLst>
          </p:cNvPr>
          <p:cNvSpPr/>
          <p:nvPr/>
        </p:nvSpPr>
        <p:spPr>
          <a:xfrm>
            <a:off x="3265289" y="2399928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Envoie</a:t>
            </a:r>
            <a:r>
              <a:rPr lang="en-US" sz="1600" dirty="0">
                <a:solidFill>
                  <a:schemeClr val="tx1"/>
                </a:solidFill>
              </a:rPr>
              <a:t> la carte</a:t>
            </a:r>
          </a:p>
        </p:txBody>
      </p:sp>
      <p:sp>
        <p:nvSpPr>
          <p:cNvPr id="34" name="Accolade fermante 33">
            <a:extLst>
              <a:ext uri="{FF2B5EF4-FFF2-40B4-BE49-F238E27FC236}">
                <a16:creationId xmlns:a16="http://schemas.microsoft.com/office/drawing/2014/main" id="{733A8AC9-A35B-9557-A206-6E73F279F6A2}"/>
              </a:ext>
            </a:extLst>
          </p:cNvPr>
          <p:cNvSpPr/>
          <p:nvPr/>
        </p:nvSpPr>
        <p:spPr>
          <a:xfrm>
            <a:off x="2411779" y="1556791"/>
            <a:ext cx="792088" cy="2341612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5" name="Rectangle : coins arrondis 4">
            <a:extLst>
              <a:ext uri="{FF2B5EF4-FFF2-40B4-BE49-F238E27FC236}">
                <a16:creationId xmlns:a16="http://schemas.microsoft.com/office/drawing/2014/main" id="{ADDA3350-C73E-81BC-D6B8-48B801BC97D7}"/>
              </a:ext>
            </a:extLst>
          </p:cNvPr>
          <p:cNvSpPr/>
          <p:nvPr/>
        </p:nvSpPr>
        <p:spPr>
          <a:xfrm>
            <a:off x="3530061" y="4763851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Vibration </a:t>
            </a:r>
            <a:r>
              <a:rPr lang="en-US" sz="1600" dirty="0" err="1">
                <a:solidFill>
                  <a:schemeClr val="tx1"/>
                </a:solidFill>
              </a:rPr>
              <a:t>légère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Accolade fermante 35">
            <a:extLst>
              <a:ext uri="{FF2B5EF4-FFF2-40B4-BE49-F238E27FC236}">
                <a16:creationId xmlns:a16="http://schemas.microsoft.com/office/drawing/2014/main" id="{6A7ADABD-52C1-489B-200F-5A74773B3E0D}"/>
              </a:ext>
            </a:extLst>
          </p:cNvPr>
          <p:cNvSpPr/>
          <p:nvPr/>
        </p:nvSpPr>
        <p:spPr>
          <a:xfrm>
            <a:off x="2737973" y="3980892"/>
            <a:ext cx="792088" cy="2256416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78930BA9-0BDB-158C-FD3A-E5F0AF40D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36" y="1586392"/>
            <a:ext cx="6263464" cy="5226984"/>
          </a:xfrm>
          <a:prstGeom prst="rect">
            <a:avLst/>
          </a:prstGeom>
        </p:spPr>
      </p:pic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6E194C2C-CFD8-61CA-B2F6-C2805CC22886}"/>
              </a:ext>
            </a:extLst>
          </p:cNvPr>
          <p:cNvSpPr/>
          <p:nvPr/>
        </p:nvSpPr>
        <p:spPr>
          <a:xfrm>
            <a:off x="2011131" y="2672916"/>
            <a:ext cx="2390526" cy="6762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Chercher la carte dans le serveur</a:t>
            </a:r>
            <a:endParaRPr lang="en-CA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9F06B129-1B23-53EF-8985-89D6FB21E6A7}"/>
              </a:ext>
            </a:extLst>
          </p:cNvPr>
          <p:cNvSpPr/>
          <p:nvPr/>
        </p:nvSpPr>
        <p:spPr>
          <a:xfrm>
            <a:off x="3230819" y="4467200"/>
            <a:ext cx="2371347" cy="850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Normalizer</a:t>
            </a:r>
            <a:r>
              <a:rPr lang="fr-CA" dirty="0"/>
              <a:t> le type (si nécessaire)</a:t>
            </a:r>
            <a:endParaRPr lang="en-CA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3E53EC-5090-C8BA-9DE0-07CEA668C523}"/>
              </a:ext>
            </a:extLst>
          </p:cNvPr>
          <p:cNvSpPr/>
          <p:nvPr/>
        </p:nvSpPr>
        <p:spPr>
          <a:xfrm>
            <a:off x="8822744" y="3517140"/>
            <a:ext cx="1914953" cy="157566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Changer l’état en fonction du type trouvé</a:t>
            </a:r>
            <a:endParaRPr lang="en-CA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1CC0E5D3-4184-E78A-11AB-794920C46D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5" y="-50556"/>
            <a:ext cx="3563026" cy="6899829"/>
          </a:xfrm>
          <a:prstGeom prst="rect">
            <a:avLst/>
          </a:prstGeom>
        </p:spPr>
      </p:pic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DAC40EFA-02B1-0523-7469-C6D5F4B744D4}"/>
              </a:ext>
            </a:extLst>
          </p:cNvPr>
          <p:cNvSpPr/>
          <p:nvPr/>
        </p:nvSpPr>
        <p:spPr>
          <a:xfrm>
            <a:off x="2347165" y="751971"/>
            <a:ext cx="2634521" cy="8646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Déplace une des rangées de compartiment</a:t>
            </a:r>
            <a:endParaRPr lang="en-CA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03C2C149-CBCD-6579-8121-AEB98C0DB363}"/>
              </a:ext>
            </a:extLst>
          </p:cNvPr>
          <p:cNvSpPr/>
          <p:nvPr/>
        </p:nvSpPr>
        <p:spPr>
          <a:xfrm>
            <a:off x="2538370" y="2439980"/>
            <a:ext cx="2634521" cy="8646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Incline la plaquette + Vibration</a:t>
            </a:r>
            <a:endParaRPr lang="en-CA" dirty="0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69DB211-3B80-18FA-EAB4-0327DBB7F0A5}"/>
              </a:ext>
            </a:extLst>
          </p:cNvPr>
          <p:cNvSpPr/>
          <p:nvPr/>
        </p:nvSpPr>
        <p:spPr>
          <a:xfrm>
            <a:off x="2655305" y="5380294"/>
            <a:ext cx="2634521" cy="8646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On incrémente les valeurs + Affichage à l’écran</a:t>
            </a:r>
            <a:endParaRPr lang="en-CA" dirty="0"/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03AA0BAE-A22C-FCF3-4325-549C90C984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196" y="1236659"/>
            <a:ext cx="4497359" cy="50079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3929A425-2CEF-9A0F-A4BB-512A8C1535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656" y="191057"/>
            <a:ext cx="3290041" cy="6362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3" name="Rectangle : coins arrondis 4">
            <a:extLst>
              <a:ext uri="{FF2B5EF4-FFF2-40B4-BE49-F238E27FC236}">
                <a16:creationId xmlns:a16="http://schemas.microsoft.com/office/drawing/2014/main" id="{287AA747-D965-B977-9304-8F0FE729916B}"/>
              </a:ext>
            </a:extLst>
          </p:cNvPr>
          <p:cNvSpPr/>
          <p:nvPr/>
        </p:nvSpPr>
        <p:spPr>
          <a:xfrm>
            <a:off x="3460942" y="111031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Interface </a:t>
            </a:r>
            <a:r>
              <a:rPr lang="en-US" sz="1600" dirty="0" err="1">
                <a:solidFill>
                  <a:schemeClr val="tx1"/>
                </a:solidFill>
              </a:rPr>
              <a:t>Utilisateur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5" name="Nuage 54">
            <a:extLst>
              <a:ext uri="{FF2B5EF4-FFF2-40B4-BE49-F238E27FC236}">
                <a16:creationId xmlns:a16="http://schemas.microsoft.com/office/drawing/2014/main" id="{DF8D9F49-B711-1F3F-1C96-FEAE397E2501}"/>
              </a:ext>
            </a:extLst>
          </p:cNvPr>
          <p:cNvSpPr/>
          <p:nvPr/>
        </p:nvSpPr>
        <p:spPr>
          <a:xfrm>
            <a:off x="9999026" y="2239893"/>
            <a:ext cx="2524838" cy="1500754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EVE (Embedded Video </a:t>
            </a:r>
            <a:r>
              <a:rPr lang="fr-CA" dirty="0" err="1"/>
              <a:t>ENgine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058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xit" presetSubtype="4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3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53" grpId="0" animBg="1"/>
      <p:bldP spid="53" grpId="1" animBg="1"/>
      <p:bldP spid="5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9E5AC3DC-411C-03C6-AC4B-D0216DC19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8E9EA7DD-733B-C0E1-34FE-E4BD7EEA1E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" t="-438" r="-1" b="813"/>
          <a:stretch>
            <a:fillRect/>
          </a:stretch>
        </p:blipFill>
        <p:spPr>
          <a:xfrm>
            <a:off x="-96688" y="-126739"/>
            <a:ext cx="5328592" cy="6984739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745EE1D9-D08B-3374-705C-13BF290EF018}"/>
              </a:ext>
            </a:extLst>
          </p:cNvPr>
          <p:cNvSpPr txBox="1">
            <a:spLocks/>
          </p:cNvSpPr>
          <p:nvPr/>
        </p:nvSpPr>
        <p:spPr>
          <a:xfrm>
            <a:off x="7823860" y="118075"/>
            <a:ext cx="3834793" cy="1366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/>
              <a:t>Principe du programme </a:t>
            </a:r>
            <a:br>
              <a:rPr lang="fr-CA" dirty="0"/>
            </a:br>
            <a:r>
              <a:rPr lang="fr-CA" sz="1600" dirty="0"/>
              <a:t>Serveur render.com</a:t>
            </a:r>
            <a:endParaRPr lang="en-CA" sz="1600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0E741D2-B2EE-9178-018B-C1251D54922A}"/>
              </a:ext>
            </a:extLst>
          </p:cNvPr>
          <p:cNvCxnSpPr>
            <a:cxnSpLocks/>
          </p:cNvCxnSpPr>
          <p:nvPr/>
        </p:nvCxnSpPr>
        <p:spPr>
          <a:xfrm flipH="1">
            <a:off x="4151784" y="4144750"/>
            <a:ext cx="1854527" cy="101244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C4554BD7-E089-5852-6FFD-E07F1C81D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11" y="2613878"/>
            <a:ext cx="4292887" cy="3119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D2C5CC08-BA97-12B5-162E-06D55677F79B}"/>
              </a:ext>
            </a:extLst>
          </p:cNvPr>
          <p:cNvSpPr/>
          <p:nvPr/>
        </p:nvSpPr>
        <p:spPr>
          <a:xfrm>
            <a:off x="551384" y="2348880"/>
            <a:ext cx="2520280" cy="1008112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C6E4E5A-CDD8-6F20-32DB-1B745CC2BE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948" y="-126740"/>
            <a:ext cx="6913361" cy="6984739"/>
          </a:xfrm>
          <a:prstGeom prst="rect">
            <a:avLst/>
          </a:prstGeom>
        </p:spPr>
      </p:pic>
      <p:sp>
        <p:nvSpPr>
          <p:cNvPr id="20" name="Rectangle : coins arrondis 4">
            <a:extLst>
              <a:ext uri="{FF2B5EF4-FFF2-40B4-BE49-F238E27FC236}">
                <a16:creationId xmlns:a16="http://schemas.microsoft.com/office/drawing/2014/main" id="{1BFA95BD-72E6-4533-FD6E-2F14D4D793DD}"/>
              </a:ext>
            </a:extLst>
          </p:cNvPr>
          <p:cNvSpPr/>
          <p:nvPr/>
        </p:nvSpPr>
        <p:spPr>
          <a:xfrm>
            <a:off x="3054936" y="-110901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Route </a:t>
            </a:r>
            <a:r>
              <a:rPr lang="en-US" sz="1600" dirty="0" err="1">
                <a:solidFill>
                  <a:schemeClr val="tx1"/>
                </a:solidFill>
              </a:rPr>
              <a:t>où</a:t>
            </a:r>
            <a:r>
              <a:rPr lang="en-US" sz="1600" dirty="0">
                <a:solidFill>
                  <a:schemeClr val="tx1"/>
                </a:solidFill>
              </a:rPr>
              <a:t> on </a:t>
            </a:r>
            <a:r>
              <a:rPr lang="en-US" sz="1600" dirty="0" err="1">
                <a:solidFill>
                  <a:schemeClr val="tx1"/>
                </a:solidFill>
              </a:rPr>
              <a:t>envoie</a:t>
            </a:r>
            <a:r>
              <a:rPr lang="en-US" sz="1600" dirty="0">
                <a:solidFill>
                  <a:schemeClr val="tx1"/>
                </a:solidFill>
              </a:rPr>
              <a:t> la photo</a:t>
            </a:r>
          </a:p>
        </p:txBody>
      </p:sp>
      <p:sp>
        <p:nvSpPr>
          <p:cNvPr id="21" name="Rectangle : coins arrondis 4">
            <a:extLst>
              <a:ext uri="{FF2B5EF4-FFF2-40B4-BE49-F238E27FC236}">
                <a16:creationId xmlns:a16="http://schemas.microsoft.com/office/drawing/2014/main" id="{CA5FBA3C-84D1-BEA5-4CCC-AA6EF1E94C8B}"/>
              </a:ext>
            </a:extLst>
          </p:cNvPr>
          <p:cNvSpPr/>
          <p:nvPr/>
        </p:nvSpPr>
        <p:spPr>
          <a:xfrm>
            <a:off x="3581034" y="2780928"/>
            <a:ext cx="1358716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Recadrage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 : coins arrondis 4">
            <a:extLst>
              <a:ext uri="{FF2B5EF4-FFF2-40B4-BE49-F238E27FC236}">
                <a16:creationId xmlns:a16="http://schemas.microsoft.com/office/drawing/2014/main" id="{20533CEC-B311-4FF0-7C71-7D8B659BEDE4}"/>
              </a:ext>
            </a:extLst>
          </p:cNvPr>
          <p:cNvSpPr/>
          <p:nvPr/>
        </p:nvSpPr>
        <p:spPr>
          <a:xfrm>
            <a:off x="4175183" y="4327800"/>
            <a:ext cx="1358716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“Upscaling”</a:t>
            </a:r>
          </a:p>
        </p:txBody>
      </p:sp>
      <p:sp>
        <p:nvSpPr>
          <p:cNvPr id="23" name="Rectangle : coins arrondis 4">
            <a:extLst>
              <a:ext uri="{FF2B5EF4-FFF2-40B4-BE49-F238E27FC236}">
                <a16:creationId xmlns:a16="http://schemas.microsoft.com/office/drawing/2014/main" id="{1A26996D-39FD-B3DE-F853-0E6372FB9F9F}"/>
              </a:ext>
            </a:extLst>
          </p:cNvPr>
          <p:cNvSpPr/>
          <p:nvPr/>
        </p:nvSpPr>
        <p:spPr>
          <a:xfrm>
            <a:off x="4124752" y="5548906"/>
            <a:ext cx="1971248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Sauvegarde</a:t>
            </a:r>
            <a:r>
              <a:rPr lang="en-US" sz="1600" dirty="0">
                <a:solidFill>
                  <a:schemeClr val="tx1"/>
                </a:solidFill>
              </a:rPr>
              <a:t> le </a:t>
            </a:r>
            <a:r>
              <a:rPr lang="en-US" sz="1600" dirty="0" err="1">
                <a:solidFill>
                  <a:schemeClr val="tx1"/>
                </a:solidFill>
              </a:rPr>
              <a:t>texte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extracter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72A9FE8B-3F89-3F73-8471-1910623D5F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79" y="559889"/>
            <a:ext cx="5414516" cy="58650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2B277D6-2D67-EF72-679E-3D259CA93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590" y="1621857"/>
            <a:ext cx="4334480" cy="41820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8" name="Rectangle : coins arrondis 4">
            <a:extLst>
              <a:ext uri="{FF2B5EF4-FFF2-40B4-BE49-F238E27FC236}">
                <a16:creationId xmlns:a16="http://schemas.microsoft.com/office/drawing/2014/main" id="{F42970FF-BDD7-8629-E808-F52488770899}"/>
              </a:ext>
            </a:extLst>
          </p:cNvPr>
          <p:cNvSpPr/>
          <p:nvPr/>
        </p:nvSpPr>
        <p:spPr>
          <a:xfrm>
            <a:off x="3908228" y="864742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>
                <a:solidFill>
                  <a:schemeClr val="tx1"/>
                </a:solidFill>
              </a:rPr>
              <a:t>Un peu de </a:t>
            </a:r>
            <a:r>
              <a:rPr lang="en-US" sz="1600" dirty="0" err="1">
                <a:solidFill>
                  <a:schemeClr val="tx1"/>
                </a:solidFill>
              </a:rPr>
              <a:t>magie</a:t>
            </a:r>
            <a:r>
              <a:rPr lang="en-US" sz="1600" dirty="0">
                <a:solidFill>
                  <a:schemeClr val="tx1"/>
                </a:solidFill>
              </a:rPr>
              <a:t> (REGEX)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C45828FC-6A3D-55B3-C0BB-99E96B4D15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84" y="823549"/>
            <a:ext cx="7754432" cy="52109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1" name="Rectangle : coins arrondis 4">
            <a:extLst>
              <a:ext uri="{FF2B5EF4-FFF2-40B4-BE49-F238E27FC236}">
                <a16:creationId xmlns:a16="http://schemas.microsoft.com/office/drawing/2014/main" id="{DCFC596C-74BC-C41F-C469-39681F27508F}"/>
              </a:ext>
            </a:extLst>
          </p:cNvPr>
          <p:cNvSpPr/>
          <p:nvPr/>
        </p:nvSpPr>
        <p:spPr>
          <a:xfrm>
            <a:off x="7524995" y="2926309"/>
            <a:ext cx="3599210" cy="6480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Envoie</a:t>
            </a:r>
            <a:r>
              <a:rPr lang="en-US" sz="1600" dirty="0">
                <a:solidFill>
                  <a:schemeClr val="tx1"/>
                </a:solidFill>
              </a:rPr>
              <a:t> du code à </a:t>
            </a:r>
            <a:r>
              <a:rPr lang="en-US" sz="1600" dirty="0" err="1">
                <a:solidFill>
                  <a:schemeClr val="tx1"/>
                </a:solidFill>
              </a:rPr>
              <a:t>scyfall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1852336-A7C0-8D25-B182-CAF92B56AD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54956" y="865320"/>
            <a:ext cx="12503357" cy="5418121"/>
          </a:xfrm>
          <a:prstGeom prst="rect">
            <a:avLst/>
          </a:prstGeom>
        </p:spPr>
      </p:pic>
      <p:sp>
        <p:nvSpPr>
          <p:cNvPr id="35" name="Ellipse 34">
            <a:extLst>
              <a:ext uri="{FF2B5EF4-FFF2-40B4-BE49-F238E27FC236}">
                <a16:creationId xmlns:a16="http://schemas.microsoft.com/office/drawing/2014/main" id="{B88AA20D-BCF5-68D7-AE3B-E7E3A1075789}"/>
              </a:ext>
            </a:extLst>
          </p:cNvPr>
          <p:cNvSpPr/>
          <p:nvPr/>
        </p:nvSpPr>
        <p:spPr>
          <a:xfrm>
            <a:off x="9336360" y="1122345"/>
            <a:ext cx="2086710" cy="3369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83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8" grpId="0" animBg="1"/>
      <p:bldP spid="28" grpId="1" animBg="1"/>
      <p:bldP spid="31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06DAE-AA9B-6858-3A31-9D97BAFF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476672"/>
            <a:ext cx="3041598" cy="1968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dirty="0"/>
              <a:t>Caractéristiques et limites de l'appareil</a:t>
            </a:r>
            <a:endParaRPr lang="en-CA" sz="2000" dirty="0"/>
          </a:p>
        </p:txBody>
      </p:sp>
      <p:pic>
        <p:nvPicPr>
          <p:cNvPr id="5" name="Vidéo 4" descr="Moving Gears">
            <a:extLst>
              <a:ext uri="{FF2B5EF4-FFF2-40B4-BE49-F238E27FC236}">
                <a16:creationId xmlns:a16="http://schemas.microsoft.com/office/drawing/2014/main" id="{1EEC187C-C29A-110D-C0C0-C36862056A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6232" r="12616" b="1"/>
          <a:stretch>
            <a:fillRect/>
          </a:stretch>
        </p:blipFill>
        <p:spPr>
          <a:xfrm>
            <a:off x="4502844" y="10"/>
            <a:ext cx="7689157" cy="609599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noFill/>
        </p:spPr>
      </p:pic>
      <p:sp>
        <p:nvSpPr>
          <p:cNvPr id="4" name="Rectangle : avec coins arrondis en diagonale 3">
            <a:extLst>
              <a:ext uri="{FF2B5EF4-FFF2-40B4-BE49-F238E27FC236}">
                <a16:creationId xmlns:a16="http://schemas.microsoft.com/office/drawing/2014/main" id="{B9B92AF4-2F08-C6F0-BF34-355591FB8984}"/>
              </a:ext>
            </a:extLst>
          </p:cNvPr>
          <p:cNvSpPr/>
          <p:nvPr/>
        </p:nvSpPr>
        <p:spPr>
          <a:xfrm>
            <a:off x="623392" y="1916832"/>
            <a:ext cx="3672408" cy="64807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1. Tesseract</a:t>
            </a:r>
            <a:endParaRPr lang="en-CA" dirty="0"/>
          </a:p>
        </p:txBody>
      </p:sp>
      <p:sp>
        <p:nvSpPr>
          <p:cNvPr id="6" name="Rectangle : avec coins arrondis en diagonale 5">
            <a:extLst>
              <a:ext uri="{FF2B5EF4-FFF2-40B4-BE49-F238E27FC236}">
                <a16:creationId xmlns:a16="http://schemas.microsoft.com/office/drawing/2014/main" id="{F90A7B33-237D-3E13-9D1D-7B6804209AB6}"/>
              </a:ext>
            </a:extLst>
          </p:cNvPr>
          <p:cNvSpPr/>
          <p:nvPr/>
        </p:nvSpPr>
        <p:spPr>
          <a:xfrm>
            <a:off x="613552" y="3742074"/>
            <a:ext cx="3672408" cy="64807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2. Mécanique</a:t>
            </a:r>
            <a:endParaRPr lang="en-CA" dirty="0"/>
          </a:p>
        </p:txBody>
      </p:sp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DA15A48-2911-8D69-E59C-565DC5ED8F50}"/>
              </a:ext>
            </a:extLst>
          </p:cNvPr>
          <p:cNvSpPr/>
          <p:nvPr/>
        </p:nvSpPr>
        <p:spPr>
          <a:xfrm>
            <a:off x="628416" y="5589240"/>
            <a:ext cx="3672408" cy="64807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3. Servos-Moteurs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00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30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D7C43-24B3-A028-EB27-DDB051B6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/>
          <a:p>
            <a:r>
              <a:rPr lang="fr-CA" dirty="0"/>
              <a:t>Question?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7814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A384A2-DC2C-4578-B8CE-512657D68B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533346F-C811-4404-B626-0E7631B212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E911A2-2017-41E4-8340-9C55208FC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{CB3B965A-0B78-4C37-AAC4-FABEFB60F591}977d9fe9-4445-4c48-bc9c-1fe8e23d557c-TF7d956844-ebdd-4ca4-b538-a1bcfc9ad3f053165620_win32</Template>
  <TotalTime>533</TotalTime>
  <Words>494</Words>
  <Application>Microsoft Office PowerPoint</Application>
  <PresentationFormat>Grand écran</PresentationFormat>
  <Paragraphs>125</Paragraphs>
  <Slides>12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Oasis</vt:lpstr>
      <vt:lpstr>Trieur de cartes  “Magic The gathering”</vt:lpstr>
      <vt:lpstr>Fonctionnement Général schéma synoptique</vt:lpstr>
      <vt:lpstr>Fonctionnement Général Schéma de principe</vt:lpstr>
      <vt:lpstr>Interface utilisateur</vt:lpstr>
      <vt:lpstr>Principes utilisés</vt:lpstr>
      <vt:lpstr>Schéma électrique (PCB PRINCIPAL)</vt:lpstr>
      <vt:lpstr>Schéma électrique (Interface utilisateur/ ÉClairage)</vt:lpstr>
      <vt:lpstr>Principe du programme  Esp #1 (Contrôleur caméra)</vt:lpstr>
      <vt:lpstr>Principe du programme  Esp #2 (Contrôleur moteurs/ Écran)</vt:lpstr>
      <vt:lpstr>Présentation PowerPoint</vt:lpstr>
      <vt:lpstr>Caractéristiques et limites de l'appareil</vt:lpstr>
      <vt:lpstr>Question?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Masse</dc:creator>
  <cp:lastModifiedBy>Benjamin Masse</cp:lastModifiedBy>
  <cp:revision>4</cp:revision>
  <dcterms:created xsi:type="dcterms:W3CDTF">2026-05-31T15:18:57Z</dcterms:created>
  <dcterms:modified xsi:type="dcterms:W3CDTF">2026-06-01T00:12:49Z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